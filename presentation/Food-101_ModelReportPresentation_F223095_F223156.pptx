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nva Sans" panose="020B0604020202020204" charset="0"/>
      <p:regular r:id="rId17"/>
    </p:embeddedFont>
    <p:embeddedFont>
      <p:font typeface="Canva Sans Bold" panose="020B0604020202020204" charset="0"/>
      <p:regular r:id="rId18"/>
    </p:embeddedFont>
    <p:embeddedFont>
      <p:font typeface="Milk Tea Font TH" panose="020B0604020202020204" charset="-34"/>
      <p:regular r:id="rId19"/>
    </p:embeddedFont>
    <p:embeddedFont>
      <p:font typeface="Milk Tea Font TH Bold" panose="020B0604020202020204" charset="-34"/>
      <p:regular r:id="rId20"/>
    </p:embeddedFont>
    <p:embeddedFont>
      <p:font typeface="Some Time Later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png"/><Relationship Id="rId16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5.svg"/><Relationship Id="rId3" Type="http://schemas.openxmlformats.org/officeDocument/2006/relationships/image" Target="../media/image25.svg"/><Relationship Id="rId7" Type="http://schemas.openxmlformats.org/officeDocument/2006/relationships/image" Target="../media/image4.svg"/><Relationship Id="rId12" Type="http://schemas.openxmlformats.org/officeDocument/2006/relationships/image" Target="../media/image1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31.svg"/><Relationship Id="rId5" Type="http://schemas.openxmlformats.org/officeDocument/2006/relationships/image" Target="../media/image27.svg"/><Relationship Id="rId15" Type="http://schemas.openxmlformats.org/officeDocument/2006/relationships/image" Target="../media/image33.svg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29.svg"/><Relationship Id="rId1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svg"/><Relationship Id="rId7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39.svg"/><Relationship Id="rId5" Type="http://schemas.openxmlformats.org/officeDocument/2006/relationships/image" Target="../media/image35.svg"/><Relationship Id="rId10" Type="http://schemas.openxmlformats.org/officeDocument/2006/relationships/image" Target="../media/image38.png"/><Relationship Id="rId4" Type="http://schemas.openxmlformats.org/officeDocument/2006/relationships/image" Target="../media/image34.png"/><Relationship Id="rId9" Type="http://schemas.openxmlformats.org/officeDocument/2006/relationships/image" Target="../media/image3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0.svg"/><Relationship Id="rId7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0.svg"/><Relationship Id="rId7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0.svg"/><Relationship Id="rId7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5.svg"/><Relationship Id="rId7" Type="http://schemas.openxmlformats.org/officeDocument/2006/relationships/image" Target="../media/image33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19.svg"/><Relationship Id="rId5" Type="http://schemas.openxmlformats.org/officeDocument/2006/relationships/image" Target="../media/image44.svg"/><Relationship Id="rId10" Type="http://schemas.openxmlformats.org/officeDocument/2006/relationships/image" Target="../media/image18.png"/><Relationship Id="rId4" Type="http://schemas.openxmlformats.org/officeDocument/2006/relationships/image" Target="../media/image43.png"/><Relationship Id="rId9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svg"/><Relationship Id="rId7" Type="http://schemas.openxmlformats.org/officeDocument/2006/relationships/image" Target="../media/image4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15.svg"/><Relationship Id="rId10" Type="http://schemas.openxmlformats.org/officeDocument/2006/relationships/image" Target="../media/image49.svg"/><Relationship Id="rId4" Type="http://schemas.openxmlformats.org/officeDocument/2006/relationships/image" Target="../media/image14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.svg"/><Relationship Id="rId7" Type="http://schemas.openxmlformats.org/officeDocument/2006/relationships/image" Target="../media/image4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1.png"/><Relationship Id="rId5" Type="http://schemas.openxmlformats.org/officeDocument/2006/relationships/image" Target="../media/image15.svg"/><Relationship Id="rId10" Type="http://schemas.openxmlformats.org/officeDocument/2006/relationships/image" Target="../media/image50.png"/><Relationship Id="rId4" Type="http://schemas.openxmlformats.org/officeDocument/2006/relationships/image" Target="../media/image14.png"/><Relationship Id="rId9" Type="http://schemas.openxmlformats.org/officeDocument/2006/relationships/image" Target="../media/image4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.svg"/><Relationship Id="rId7" Type="http://schemas.openxmlformats.org/officeDocument/2006/relationships/image" Target="../media/image4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15.svg"/><Relationship Id="rId10" Type="http://schemas.openxmlformats.org/officeDocument/2006/relationships/image" Target="../media/image52.png"/><Relationship Id="rId4" Type="http://schemas.openxmlformats.org/officeDocument/2006/relationships/image" Target="../media/image14.png"/><Relationship Id="rId9" Type="http://schemas.openxmlformats.org/officeDocument/2006/relationships/image" Target="../media/image4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svg"/><Relationship Id="rId7" Type="http://schemas.openxmlformats.org/officeDocument/2006/relationships/image" Target="../media/image21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9.svg"/><Relationship Id="rId5" Type="http://schemas.openxmlformats.org/officeDocument/2006/relationships/image" Target="../media/image17.svg"/><Relationship Id="rId10" Type="http://schemas.openxmlformats.org/officeDocument/2006/relationships/image" Target="../media/image48.png"/><Relationship Id="rId4" Type="http://schemas.openxmlformats.org/officeDocument/2006/relationships/image" Target="../media/image16.png"/><Relationship Id="rId9" Type="http://schemas.openxmlformats.org/officeDocument/2006/relationships/image" Target="../media/image2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svg"/><Relationship Id="rId7" Type="http://schemas.openxmlformats.org/officeDocument/2006/relationships/image" Target="../media/image21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9.svg"/><Relationship Id="rId5" Type="http://schemas.openxmlformats.org/officeDocument/2006/relationships/image" Target="../media/image17.svg"/><Relationship Id="rId10" Type="http://schemas.openxmlformats.org/officeDocument/2006/relationships/image" Target="../media/image48.png"/><Relationship Id="rId4" Type="http://schemas.openxmlformats.org/officeDocument/2006/relationships/image" Target="../media/image16.png"/><Relationship Id="rId9" Type="http://schemas.openxmlformats.org/officeDocument/2006/relationships/image" Target="../media/image2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0.svg"/><Relationship Id="rId7" Type="http://schemas.openxmlformats.org/officeDocument/2006/relationships/image" Target="../media/image20.png"/><Relationship Id="rId12" Type="http://schemas.openxmlformats.org/officeDocument/2006/relationships/image" Target="../media/image4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45.png"/><Relationship Id="rId5" Type="http://schemas.openxmlformats.org/officeDocument/2006/relationships/image" Target="../media/image26.png"/><Relationship Id="rId10" Type="http://schemas.openxmlformats.org/officeDocument/2006/relationships/image" Target="../media/image49.svg"/><Relationship Id="rId4" Type="http://schemas.openxmlformats.org/officeDocument/2006/relationships/image" Target="../media/image53.png"/><Relationship Id="rId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1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12638" y="1524427"/>
            <a:ext cx="15815123" cy="7733873"/>
            <a:chOff x="0" y="0"/>
            <a:chExt cx="4165300" cy="20369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65300" cy="2036905"/>
            </a:xfrm>
            <a:custGeom>
              <a:avLst/>
              <a:gdLst/>
              <a:ahLst/>
              <a:cxnLst/>
              <a:rect l="l" t="t" r="r" b="b"/>
              <a:pathLst>
                <a:path w="4165300" h="2036905">
                  <a:moveTo>
                    <a:pt x="0" y="0"/>
                  </a:moveTo>
                  <a:lnTo>
                    <a:pt x="4165300" y="0"/>
                  </a:lnTo>
                  <a:lnTo>
                    <a:pt x="4165300" y="2036905"/>
                  </a:lnTo>
                  <a:lnTo>
                    <a:pt x="0" y="2036905"/>
                  </a:lnTo>
                  <a:close/>
                </a:path>
              </a:pathLst>
            </a:custGeom>
            <a:solidFill>
              <a:srgbClr val="CECBA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165300" cy="2075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60238" y="1376905"/>
            <a:ext cx="15613608" cy="7571319"/>
            <a:chOff x="0" y="0"/>
            <a:chExt cx="4112226" cy="19940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2226" cy="1994092"/>
            </a:xfrm>
            <a:custGeom>
              <a:avLst/>
              <a:gdLst/>
              <a:ahLst/>
              <a:cxnLst/>
              <a:rect l="l" t="t" r="r" b="b"/>
              <a:pathLst>
                <a:path w="4112226" h="1994092">
                  <a:moveTo>
                    <a:pt x="0" y="0"/>
                  </a:moveTo>
                  <a:lnTo>
                    <a:pt x="4112226" y="0"/>
                  </a:lnTo>
                  <a:lnTo>
                    <a:pt x="4112226" y="1994092"/>
                  </a:lnTo>
                  <a:lnTo>
                    <a:pt x="0" y="1994092"/>
                  </a:lnTo>
                  <a:close/>
                </a:path>
              </a:pathLst>
            </a:custGeom>
            <a:solidFill>
              <a:srgbClr val="FFF4E0"/>
            </a:solidFill>
            <a:ln w="66675" cap="sq">
              <a:solidFill>
                <a:srgbClr val="5D8D69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112226" cy="2032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160048" y="-799829"/>
            <a:ext cx="264892" cy="3657059"/>
            <a:chOff x="0" y="0"/>
            <a:chExt cx="69766" cy="9631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766" cy="963176"/>
            </a:xfrm>
            <a:custGeom>
              <a:avLst/>
              <a:gdLst/>
              <a:ahLst/>
              <a:cxnLst/>
              <a:rect l="l" t="t" r="r" b="b"/>
              <a:pathLst>
                <a:path w="69766" h="963176">
                  <a:moveTo>
                    <a:pt x="0" y="0"/>
                  </a:moveTo>
                  <a:lnTo>
                    <a:pt x="69766" y="0"/>
                  </a:lnTo>
                  <a:lnTo>
                    <a:pt x="69766" y="963176"/>
                  </a:lnTo>
                  <a:lnTo>
                    <a:pt x="0" y="963176"/>
                  </a:lnTo>
                  <a:close/>
                </a:path>
              </a:pathLst>
            </a:custGeom>
            <a:solidFill>
              <a:srgbClr val="F8D45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9766" cy="1001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061753" y="2626489"/>
            <a:ext cx="461482" cy="46148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5021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400495" y="-1030570"/>
            <a:ext cx="264892" cy="3657059"/>
            <a:chOff x="0" y="0"/>
            <a:chExt cx="69766" cy="9631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766" cy="963176"/>
            </a:xfrm>
            <a:custGeom>
              <a:avLst/>
              <a:gdLst/>
              <a:ahLst/>
              <a:cxnLst/>
              <a:rect l="l" t="t" r="r" b="b"/>
              <a:pathLst>
                <a:path w="69766" h="963176">
                  <a:moveTo>
                    <a:pt x="0" y="0"/>
                  </a:moveTo>
                  <a:lnTo>
                    <a:pt x="69766" y="0"/>
                  </a:lnTo>
                  <a:lnTo>
                    <a:pt x="69766" y="963176"/>
                  </a:lnTo>
                  <a:lnTo>
                    <a:pt x="0" y="963176"/>
                  </a:lnTo>
                  <a:close/>
                </a:path>
              </a:pathLst>
            </a:custGeom>
            <a:solidFill>
              <a:srgbClr val="F8D45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9766" cy="1001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302200" y="2395748"/>
            <a:ext cx="461482" cy="46148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5021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4987886" y="6938151"/>
            <a:ext cx="2553212" cy="2010074"/>
          </a:xfrm>
          <a:custGeom>
            <a:avLst/>
            <a:gdLst/>
            <a:ahLst/>
            <a:cxnLst/>
            <a:rect l="l" t="t" r="r" b="b"/>
            <a:pathLst>
              <a:path w="2553212" h="2010074">
                <a:moveTo>
                  <a:pt x="0" y="0"/>
                </a:moveTo>
                <a:lnTo>
                  <a:pt x="2553212" y="0"/>
                </a:lnTo>
                <a:lnTo>
                  <a:pt x="2553212" y="2010074"/>
                </a:lnTo>
                <a:lnTo>
                  <a:pt x="0" y="20100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382990">
            <a:off x="487641" y="3533890"/>
            <a:ext cx="1949805" cy="1652016"/>
          </a:xfrm>
          <a:custGeom>
            <a:avLst/>
            <a:gdLst/>
            <a:ahLst/>
            <a:cxnLst/>
            <a:rect l="l" t="t" r="r" b="b"/>
            <a:pathLst>
              <a:path w="1949805" h="1652016">
                <a:moveTo>
                  <a:pt x="0" y="0"/>
                </a:moveTo>
                <a:lnTo>
                  <a:pt x="1949805" y="0"/>
                </a:lnTo>
                <a:lnTo>
                  <a:pt x="1949805" y="1652017"/>
                </a:lnTo>
                <a:lnTo>
                  <a:pt x="0" y="1652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5886435" y="3430624"/>
            <a:ext cx="1372865" cy="1313527"/>
          </a:xfrm>
          <a:custGeom>
            <a:avLst/>
            <a:gdLst/>
            <a:ahLst/>
            <a:cxnLst/>
            <a:rect l="l" t="t" r="r" b="b"/>
            <a:pathLst>
              <a:path w="1372865" h="1313527">
                <a:moveTo>
                  <a:pt x="0" y="0"/>
                </a:moveTo>
                <a:lnTo>
                  <a:pt x="1372865" y="0"/>
                </a:lnTo>
                <a:lnTo>
                  <a:pt x="1372865" y="1313527"/>
                </a:lnTo>
                <a:lnTo>
                  <a:pt x="0" y="13135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61272" y="7071455"/>
            <a:ext cx="1298776" cy="1283357"/>
          </a:xfrm>
          <a:custGeom>
            <a:avLst/>
            <a:gdLst/>
            <a:ahLst/>
            <a:cxnLst/>
            <a:rect l="l" t="t" r="r" b="b"/>
            <a:pathLst>
              <a:path w="1298776" h="1283357">
                <a:moveTo>
                  <a:pt x="0" y="0"/>
                </a:moveTo>
                <a:lnTo>
                  <a:pt x="1298776" y="0"/>
                </a:lnTo>
                <a:lnTo>
                  <a:pt x="1298776" y="1283358"/>
                </a:lnTo>
                <a:lnTo>
                  <a:pt x="0" y="12833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564115" y="3110589"/>
            <a:ext cx="10805855" cy="3376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17"/>
              </a:lnSpc>
              <a:spcBef>
                <a:spcPct val="0"/>
              </a:spcBef>
            </a:pPr>
            <a:r>
              <a:rPr lang="en-US" sz="17583">
                <a:solidFill>
                  <a:srgbClr val="5D8D69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CV PROJECT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60245" y="2421958"/>
            <a:ext cx="7347711" cy="816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5D8D69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FOOD-101 IMAGE CLASSIFICATION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78800" y="6045636"/>
            <a:ext cx="11376486" cy="1374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887">
                <a:solidFill>
                  <a:srgbClr val="5D8D69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EFFICIENTNETB3 • RESNET101 • DENSENET201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194195" y="7791887"/>
            <a:ext cx="3545696" cy="788643"/>
            <a:chOff x="0" y="0"/>
            <a:chExt cx="933846" cy="20770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33846" cy="207708"/>
            </a:xfrm>
            <a:custGeom>
              <a:avLst/>
              <a:gdLst/>
              <a:ahLst/>
              <a:cxnLst/>
              <a:rect l="l" t="t" r="r" b="b"/>
              <a:pathLst>
                <a:path w="933846" h="207708">
                  <a:moveTo>
                    <a:pt x="103854" y="0"/>
                  </a:moveTo>
                  <a:lnTo>
                    <a:pt x="829992" y="0"/>
                  </a:lnTo>
                  <a:cubicBezTo>
                    <a:pt x="857535" y="0"/>
                    <a:pt x="883951" y="10942"/>
                    <a:pt x="903428" y="30418"/>
                  </a:cubicBezTo>
                  <a:cubicBezTo>
                    <a:pt x="922904" y="49895"/>
                    <a:pt x="933846" y="76310"/>
                    <a:pt x="933846" y="103854"/>
                  </a:cubicBezTo>
                  <a:lnTo>
                    <a:pt x="933846" y="103854"/>
                  </a:lnTo>
                  <a:cubicBezTo>
                    <a:pt x="933846" y="161211"/>
                    <a:pt x="887349" y="207708"/>
                    <a:pt x="829992" y="207708"/>
                  </a:cubicBezTo>
                  <a:lnTo>
                    <a:pt x="103854" y="207708"/>
                  </a:lnTo>
                  <a:cubicBezTo>
                    <a:pt x="46497" y="207708"/>
                    <a:pt x="0" y="161211"/>
                    <a:pt x="0" y="103854"/>
                  </a:cubicBezTo>
                  <a:lnTo>
                    <a:pt x="0" y="103854"/>
                  </a:lnTo>
                  <a:cubicBezTo>
                    <a:pt x="0" y="46497"/>
                    <a:pt x="46497" y="0"/>
                    <a:pt x="103854" y="0"/>
                  </a:cubicBezTo>
                  <a:close/>
                </a:path>
              </a:pathLst>
            </a:custGeom>
            <a:solidFill>
              <a:srgbClr val="F0C642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933846" cy="255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 dirty="0">
                  <a:solidFill>
                    <a:srgbClr val="FFF4E0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By Nashrah &amp; Kashaf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6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77432">
            <a:off x="9561405" y="1376905"/>
            <a:ext cx="7212442" cy="7571319"/>
            <a:chOff x="0" y="0"/>
            <a:chExt cx="1899573" cy="19940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99573" cy="1994092"/>
            </a:xfrm>
            <a:custGeom>
              <a:avLst/>
              <a:gdLst/>
              <a:ahLst/>
              <a:cxnLst/>
              <a:rect l="l" t="t" r="r" b="b"/>
              <a:pathLst>
                <a:path w="1899573" h="1994092">
                  <a:moveTo>
                    <a:pt x="0" y="0"/>
                  </a:moveTo>
                  <a:lnTo>
                    <a:pt x="1899573" y="0"/>
                  </a:lnTo>
                  <a:lnTo>
                    <a:pt x="1899573" y="1994092"/>
                  </a:lnTo>
                  <a:lnTo>
                    <a:pt x="0" y="1994092"/>
                  </a:lnTo>
                  <a:close/>
                </a:path>
              </a:pathLst>
            </a:custGeom>
            <a:solidFill>
              <a:srgbClr val="FFF4E0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99573" cy="2032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77432">
            <a:off x="9900404" y="1778702"/>
            <a:ext cx="6571675" cy="5115046"/>
            <a:chOff x="0" y="0"/>
            <a:chExt cx="1730811" cy="13471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30811" cy="1347173"/>
            </a:xfrm>
            <a:custGeom>
              <a:avLst/>
              <a:gdLst/>
              <a:ahLst/>
              <a:cxnLst/>
              <a:rect l="l" t="t" r="r" b="b"/>
              <a:pathLst>
                <a:path w="1730811" h="1347173">
                  <a:moveTo>
                    <a:pt x="0" y="0"/>
                  </a:moveTo>
                  <a:lnTo>
                    <a:pt x="1730811" y="0"/>
                  </a:lnTo>
                  <a:lnTo>
                    <a:pt x="1730811" y="1347173"/>
                  </a:lnTo>
                  <a:lnTo>
                    <a:pt x="0" y="1347173"/>
                  </a:lnTo>
                  <a:close/>
                </a:path>
              </a:pathLst>
            </a:custGeom>
            <a:solidFill>
              <a:srgbClr val="F8D455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30811" cy="138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4740766">
            <a:off x="9929997" y="1993290"/>
            <a:ext cx="2285446" cy="2060350"/>
          </a:xfrm>
          <a:custGeom>
            <a:avLst/>
            <a:gdLst/>
            <a:ahLst/>
            <a:cxnLst/>
            <a:rect l="l" t="t" r="r" b="b"/>
            <a:pathLst>
              <a:path w="2285446" h="2060350">
                <a:moveTo>
                  <a:pt x="0" y="0"/>
                </a:moveTo>
                <a:lnTo>
                  <a:pt x="2285446" y="0"/>
                </a:lnTo>
                <a:lnTo>
                  <a:pt x="2285446" y="2060350"/>
                </a:lnTo>
                <a:lnTo>
                  <a:pt x="0" y="2060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94616">
            <a:off x="11128403" y="2278825"/>
            <a:ext cx="4934448" cy="4114800"/>
          </a:xfrm>
          <a:custGeom>
            <a:avLst/>
            <a:gdLst/>
            <a:ahLst/>
            <a:cxnLst/>
            <a:rect l="l" t="t" r="r" b="b"/>
            <a:pathLst>
              <a:path w="4934448" h="4114800">
                <a:moveTo>
                  <a:pt x="0" y="0"/>
                </a:moveTo>
                <a:lnTo>
                  <a:pt x="4934449" y="0"/>
                </a:lnTo>
                <a:lnTo>
                  <a:pt x="49344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019166" y="5342159"/>
            <a:ext cx="1514440" cy="1313433"/>
          </a:xfrm>
          <a:custGeom>
            <a:avLst/>
            <a:gdLst/>
            <a:ahLst/>
            <a:cxnLst/>
            <a:rect l="l" t="t" r="r" b="b"/>
            <a:pathLst>
              <a:path w="1514440" h="1313433">
                <a:moveTo>
                  <a:pt x="0" y="0"/>
                </a:moveTo>
                <a:lnTo>
                  <a:pt x="1514440" y="0"/>
                </a:lnTo>
                <a:lnTo>
                  <a:pt x="1514440" y="1313433"/>
                </a:lnTo>
                <a:lnTo>
                  <a:pt x="0" y="1313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865502" y="2211708"/>
            <a:ext cx="1253033" cy="1013818"/>
          </a:xfrm>
          <a:custGeom>
            <a:avLst/>
            <a:gdLst/>
            <a:ahLst/>
            <a:cxnLst/>
            <a:rect l="l" t="t" r="r" b="b"/>
            <a:pathLst>
              <a:path w="1253033" h="1013818">
                <a:moveTo>
                  <a:pt x="0" y="0"/>
                </a:moveTo>
                <a:lnTo>
                  <a:pt x="1253033" y="0"/>
                </a:lnTo>
                <a:lnTo>
                  <a:pt x="1253033" y="1013818"/>
                </a:lnTo>
                <a:lnTo>
                  <a:pt x="0" y="10138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470259">
            <a:off x="15475433" y="5823771"/>
            <a:ext cx="2309892" cy="3769854"/>
          </a:xfrm>
          <a:custGeom>
            <a:avLst/>
            <a:gdLst/>
            <a:ahLst/>
            <a:cxnLst/>
            <a:rect l="l" t="t" r="r" b="b"/>
            <a:pathLst>
              <a:path w="2309892" h="3769854">
                <a:moveTo>
                  <a:pt x="0" y="0"/>
                </a:moveTo>
                <a:lnTo>
                  <a:pt x="2309892" y="0"/>
                </a:lnTo>
                <a:lnTo>
                  <a:pt x="2309892" y="3769854"/>
                </a:lnTo>
                <a:lnTo>
                  <a:pt x="0" y="37698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207732" y="7497638"/>
            <a:ext cx="2427088" cy="3061694"/>
          </a:xfrm>
          <a:custGeom>
            <a:avLst/>
            <a:gdLst/>
            <a:ahLst/>
            <a:cxnLst/>
            <a:rect l="l" t="t" r="r" b="b"/>
            <a:pathLst>
              <a:path w="2427088" h="3061694">
                <a:moveTo>
                  <a:pt x="0" y="0"/>
                </a:moveTo>
                <a:lnTo>
                  <a:pt x="2427088" y="0"/>
                </a:lnTo>
                <a:lnTo>
                  <a:pt x="2427088" y="3061694"/>
                </a:lnTo>
                <a:lnTo>
                  <a:pt x="0" y="306169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19356" y="1798885"/>
            <a:ext cx="7924644" cy="3543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10"/>
              </a:lnSpc>
            </a:pPr>
            <a:r>
              <a:rPr lang="en-US" sz="14344">
                <a:solidFill>
                  <a:srgbClr val="FFF4E0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INTRODUC-</a:t>
            </a:r>
          </a:p>
          <a:p>
            <a:pPr algn="l">
              <a:lnSpc>
                <a:spcPts val="12910"/>
              </a:lnSpc>
            </a:pPr>
            <a:r>
              <a:rPr lang="en-US" sz="14344">
                <a:solidFill>
                  <a:srgbClr val="FFF4E0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TION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6842794" y="3579061"/>
            <a:ext cx="1995275" cy="1763098"/>
          </a:xfrm>
          <a:custGeom>
            <a:avLst/>
            <a:gdLst/>
            <a:ahLst/>
            <a:cxnLst/>
            <a:rect l="l" t="t" r="r" b="b"/>
            <a:pathLst>
              <a:path w="1995275" h="1763098">
                <a:moveTo>
                  <a:pt x="0" y="0"/>
                </a:moveTo>
                <a:lnTo>
                  <a:pt x="1995275" y="0"/>
                </a:lnTo>
                <a:lnTo>
                  <a:pt x="1995275" y="1763098"/>
                </a:lnTo>
                <a:lnTo>
                  <a:pt x="0" y="17630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19356" y="5203982"/>
            <a:ext cx="6366262" cy="4751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 b="1">
                <a:solidFill>
                  <a:srgbClr val="FFF4E0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Dataset: Food-101</a:t>
            </a: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101 food categories</a:t>
            </a: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75,750 training images and 25,250 testing images</a:t>
            </a: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Provided train/test split</a:t>
            </a: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Images are real-world, high-variance, non-studio quality</a:t>
            </a: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Used original authors’ metadata to build clean directory structure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699">
              <a:solidFill>
                <a:srgbClr val="FFF4E0"/>
              </a:solidFill>
              <a:latin typeface="Milk Tea Font TH"/>
              <a:ea typeface="Milk Tea Font TH"/>
              <a:cs typeface="Milk Tea Font TH"/>
              <a:sym typeface="Milk Tea Font T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8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79681">
            <a:off x="1119034" y="1114697"/>
            <a:ext cx="7472319" cy="7844128"/>
            <a:chOff x="0" y="0"/>
            <a:chExt cx="1899573" cy="19940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99573" cy="1994092"/>
            </a:xfrm>
            <a:custGeom>
              <a:avLst/>
              <a:gdLst/>
              <a:ahLst/>
              <a:cxnLst/>
              <a:rect l="l" t="t" r="r" b="b"/>
              <a:pathLst>
                <a:path w="1899573" h="1994092">
                  <a:moveTo>
                    <a:pt x="0" y="0"/>
                  </a:moveTo>
                  <a:lnTo>
                    <a:pt x="1899573" y="0"/>
                  </a:lnTo>
                  <a:lnTo>
                    <a:pt x="1899573" y="1994092"/>
                  </a:lnTo>
                  <a:lnTo>
                    <a:pt x="0" y="1994092"/>
                  </a:lnTo>
                  <a:close/>
                </a:path>
              </a:pathLst>
            </a:custGeom>
            <a:solidFill>
              <a:srgbClr val="FFF4E0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99573" cy="2032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79681">
            <a:off x="1431115" y="1530984"/>
            <a:ext cx="6808464" cy="5299351"/>
            <a:chOff x="0" y="0"/>
            <a:chExt cx="1730811" cy="13471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30811" cy="1347173"/>
            </a:xfrm>
            <a:custGeom>
              <a:avLst/>
              <a:gdLst/>
              <a:ahLst/>
              <a:cxnLst/>
              <a:rect l="l" t="t" r="r" b="b"/>
              <a:pathLst>
                <a:path w="1730811" h="1347173">
                  <a:moveTo>
                    <a:pt x="0" y="0"/>
                  </a:moveTo>
                  <a:lnTo>
                    <a:pt x="1730811" y="0"/>
                  </a:lnTo>
                  <a:lnTo>
                    <a:pt x="1730811" y="1347173"/>
                  </a:lnTo>
                  <a:lnTo>
                    <a:pt x="0" y="1347173"/>
                  </a:lnTo>
                  <a:close/>
                </a:path>
              </a:pathLst>
            </a:custGeom>
            <a:solidFill>
              <a:srgbClr val="F8D455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30811" cy="138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69743">
            <a:off x="1652216" y="2078328"/>
            <a:ext cx="3487961" cy="4263064"/>
          </a:xfrm>
          <a:custGeom>
            <a:avLst/>
            <a:gdLst/>
            <a:ahLst/>
            <a:cxnLst/>
            <a:rect l="l" t="t" r="r" b="b"/>
            <a:pathLst>
              <a:path w="3487961" h="4263064">
                <a:moveTo>
                  <a:pt x="0" y="0"/>
                </a:moveTo>
                <a:lnTo>
                  <a:pt x="3487961" y="0"/>
                </a:lnTo>
                <a:lnTo>
                  <a:pt x="3487961" y="4263064"/>
                </a:lnTo>
                <a:lnTo>
                  <a:pt x="0" y="42630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9743">
            <a:off x="5453936" y="4597278"/>
            <a:ext cx="2645209" cy="2082501"/>
          </a:xfrm>
          <a:custGeom>
            <a:avLst/>
            <a:gdLst/>
            <a:ahLst/>
            <a:cxnLst/>
            <a:rect l="l" t="t" r="r" b="b"/>
            <a:pathLst>
              <a:path w="2645209" h="2082501">
                <a:moveTo>
                  <a:pt x="0" y="0"/>
                </a:moveTo>
                <a:lnTo>
                  <a:pt x="2645209" y="0"/>
                </a:lnTo>
                <a:lnTo>
                  <a:pt x="2645209" y="2082501"/>
                </a:lnTo>
                <a:lnTo>
                  <a:pt x="0" y="20825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3296437">
            <a:off x="5722058" y="1878655"/>
            <a:ext cx="1571526" cy="2659506"/>
          </a:xfrm>
          <a:custGeom>
            <a:avLst/>
            <a:gdLst/>
            <a:ahLst/>
            <a:cxnLst/>
            <a:rect l="l" t="t" r="r" b="b"/>
            <a:pathLst>
              <a:path w="1571526" h="2659506">
                <a:moveTo>
                  <a:pt x="0" y="0"/>
                </a:moveTo>
                <a:lnTo>
                  <a:pt x="1571526" y="0"/>
                </a:lnTo>
                <a:lnTo>
                  <a:pt x="1571526" y="2659506"/>
                </a:lnTo>
                <a:lnTo>
                  <a:pt x="0" y="26595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20084833">
            <a:off x="16395100" y="6265167"/>
            <a:ext cx="1771380" cy="2038199"/>
          </a:xfrm>
          <a:custGeom>
            <a:avLst/>
            <a:gdLst/>
            <a:ahLst/>
            <a:cxnLst/>
            <a:rect l="l" t="t" r="r" b="b"/>
            <a:pathLst>
              <a:path w="1771380" h="2038199">
                <a:moveTo>
                  <a:pt x="0" y="0"/>
                </a:moveTo>
                <a:lnTo>
                  <a:pt x="1771381" y="0"/>
                </a:lnTo>
                <a:lnTo>
                  <a:pt x="1771381" y="2038199"/>
                </a:lnTo>
                <a:lnTo>
                  <a:pt x="0" y="20381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38359">
            <a:off x="-1434160" y="6087776"/>
            <a:ext cx="4459800" cy="3867863"/>
          </a:xfrm>
          <a:custGeom>
            <a:avLst/>
            <a:gdLst/>
            <a:ahLst/>
            <a:cxnLst/>
            <a:rect l="l" t="t" r="r" b="b"/>
            <a:pathLst>
              <a:path w="4459800" h="3867863">
                <a:moveTo>
                  <a:pt x="0" y="0"/>
                </a:moveTo>
                <a:lnTo>
                  <a:pt x="4459799" y="0"/>
                </a:lnTo>
                <a:lnTo>
                  <a:pt x="4459799" y="3867863"/>
                </a:lnTo>
                <a:lnTo>
                  <a:pt x="0" y="38678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7023475" y="-108075"/>
            <a:ext cx="1992456" cy="2273550"/>
          </a:xfrm>
          <a:custGeom>
            <a:avLst/>
            <a:gdLst/>
            <a:ahLst/>
            <a:cxnLst/>
            <a:rect l="l" t="t" r="r" b="b"/>
            <a:pathLst>
              <a:path w="1992456" h="2273550">
                <a:moveTo>
                  <a:pt x="0" y="0"/>
                </a:moveTo>
                <a:lnTo>
                  <a:pt x="1992456" y="0"/>
                </a:lnTo>
                <a:lnTo>
                  <a:pt x="1992456" y="2273550"/>
                </a:lnTo>
                <a:lnTo>
                  <a:pt x="0" y="22735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756024" y="1623655"/>
            <a:ext cx="7267451" cy="233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510"/>
              </a:lnSpc>
            </a:pPr>
            <a:r>
              <a:rPr lang="en-US" sz="9456">
                <a:solidFill>
                  <a:srgbClr val="FFF4E0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DEEP LEARNING MODELS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56024" y="4123510"/>
            <a:ext cx="7267451" cy="6179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We trained three transfer learning models:</a:t>
            </a:r>
          </a:p>
          <a:p>
            <a:pPr marL="582925" lvl="1" indent="-291463" algn="just">
              <a:lnSpc>
                <a:spcPts val="3779"/>
              </a:lnSpc>
              <a:buAutoNum type="arabicPeriod"/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EfficientNetB3</a:t>
            </a:r>
          </a:p>
          <a:p>
            <a:pPr marL="1165850" lvl="2" indent="-388617" algn="just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Best parameter efficiency</a:t>
            </a:r>
          </a:p>
          <a:p>
            <a:pPr marL="1165850" lvl="2" indent="-388617" algn="just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Prefers 300×300 but trained at 224×224 for speed</a:t>
            </a:r>
          </a:p>
          <a:p>
            <a:pPr marL="582925" lvl="1" indent="-291463" algn="just">
              <a:lnSpc>
                <a:spcPts val="3779"/>
              </a:lnSpc>
              <a:buAutoNum type="arabicPeriod"/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ResNet101</a:t>
            </a:r>
          </a:p>
          <a:p>
            <a:pPr marL="1165850" lvl="2" indent="-388617" algn="just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Very deep residual architecture</a:t>
            </a:r>
          </a:p>
          <a:p>
            <a:pPr marL="1165850" lvl="2" indent="-388617" algn="just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Helps avoid vanishing gradients</a:t>
            </a:r>
          </a:p>
          <a:p>
            <a:pPr marL="582925" lvl="1" indent="-291463" algn="just">
              <a:lnSpc>
                <a:spcPts val="3779"/>
              </a:lnSpc>
              <a:buAutoNum type="arabicPeriod"/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DenseNet201</a:t>
            </a:r>
          </a:p>
          <a:p>
            <a:pPr marL="1165850" lvl="2" indent="-388617" algn="just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Dense connections → strong feature reuse</a:t>
            </a:r>
          </a:p>
          <a:p>
            <a:pPr marL="1165850" lvl="2" indent="-388617" algn="just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Efficient and stable training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699">
              <a:solidFill>
                <a:srgbClr val="FFF4E0"/>
              </a:solidFill>
              <a:latin typeface="Milk Tea Font TH"/>
              <a:ea typeface="Milk Tea Font TH"/>
              <a:cs typeface="Milk Tea Font TH"/>
              <a:sym typeface="Milk Tea Font T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139506" y="1221436"/>
            <a:ext cx="16119794" cy="8036864"/>
            <a:chOff x="0" y="0"/>
            <a:chExt cx="4097888" cy="20430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97888" cy="2043089"/>
            </a:xfrm>
            <a:custGeom>
              <a:avLst/>
              <a:gdLst/>
              <a:ahLst/>
              <a:cxnLst/>
              <a:rect l="l" t="t" r="r" b="b"/>
              <a:pathLst>
                <a:path w="4097888" h="2043089">
                  <a:moveTo>
                    <a:pt x="0" y="0"/>
                  </a:moveTo>
                  <a:lnTo>
                    <a:pt x="4097888" y="0"/>
                  </a:lnTo>
                  <a:lnTo>
                    <a:pt x="4097888" y="2043089"/>
                  </a:lnTo>
                  <a:lnTo>
                    <a:pt x="0" y="2043089"/>
                  </a:lnTo>
                  <a:close/>
                </a:path>
              </a:pathLst>
            </a:custGeom>
            <a:solidFill>
              <a:srgbClr val="FFF4E0"/>
            </a:solidFill>
            <a:ln w="57150" cap="sq">
              <a:solidFill>
                <a:srgbClr val="5D8D6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097888" cy="2081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6225603" y="2033121"/>
            <a:ext cx="1376335" cy="1513968"/>
          </a:xfrm>
          <a:custGeom>
            <a:avLst/>
            <a:gdLst/>
            <a:ahLst/>
            <a:cxnLst/>
            <a:rect l="l" t="t" r="r" b="b"/>
            <a:pathLst>
              <a:path w="1376335" h="1513968">
                <a:moveTo>
                  <a:pt x="0" y="0"/>
                </a:moveTo>
                <a:lnTo>
                  <a:pt x="1376334" y="0"/>
                </a:lnTo>
                <a:lnTo>
                  <a:pt x="1376334" y="1513968"/>
                </a:lnTo>
                <a:lnTo>
                  <a:pt x="0" y="1513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93207" y="4233506"/>
            <a:ext cx="1853965" cy="1638231"/>
          </a:xfrm>
          <a:custGeom>
            <a:avLst/>
            <a:gdLst/>
            <a:ahLst/>
            <a:cxnLst/>
            <a:rect l="l" t="t" r="r" b="b"/>
            <a:pathLst>
              <a:path w="1853965" h="1638231">
                <a:moveTo>
                  <a:pt x="0" y="0"/>
                </a:moveTo>
                <a:lnTo>
                  <a:pt x="1853965" y="0"/>
                </a:lnTo>
                <a:lnTo>
                  <a:pt x="1853965" y="1638231"/>
                </a:lnTo>
                <a:lnTo>
                  <a:pt x="0" y="1638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2745204" y="5143500"/>
          <a:ext cx="13054488" cy="3571874"/>
        </p:xfrm>
        <a:graphic>
          <a:graphicData uri="http://schemas.openxmlformats.org/drawingml/2006/table">
            <a:tbl>
              <a:tblPr/>
              <a:tblGrid>
                <a:gridCol w="2175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5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5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57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57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57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4569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Loss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Macro 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Macro 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Macro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72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EfficientNetB3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0.033505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4.411595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0.018741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0.033386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0.012116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72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ResNet101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0.097703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3.989144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0.093745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0.097545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0.077837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72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DenseNet201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0.698099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1.118766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0.700891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0.698178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0.693492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Freeform 10"/>
          <p:cNvSpPr/>
          <p:nvPr/>
        </p:nvSpPr>
        <p:spPr>
          <a:xfrm>
            <a:off x="593207" y="885715"/>
            <a:ext cx="1829197" cy="1147406"/>
          </a:xfrm>
          <a:custGeom>
            <a:avLst/>
            <a:gdLst/>
            <a:ahLst/>
            <a:cxnLst/>
            <a:rect l="l" t="t" r="r" b="b"/>
            <a:pathLst>
              <a:path w="1829197" h="1147406">
                <a:moveTo>
                  <a:pt x="0" y="0"/>
                </a:moveTo>
                <a:lnTo>
                  <a:pt x="1829197" y="0"/>
                </a:lnTo>
                <a:lnTo>
                  <a:pt x="1829197" y="1147406"/>
                </a:lnTo>
                <a:lnTo>
                  <a:pt x="0" y="1147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225603" y="6672961"/>
            <a:ext cx="1531152" cy="1628885"/>
          </a:xfrm>
          <a:custGeom>
            <a:avLst/>
            <a:gdLst/>
            <a:ahLst/>
            <a:cxnLst/>
            <a:rect l="l" t="t" r="r" b="b"/>
            <a:pathLst>
              <a:path w="1531152" h="1628885">
                <a:moveTo>
                  <a:pt x="0" y="0"/>
                </a:moveTo>
                <a:lnTo>
                  <a:pt x="1531151" y="0"/>
                </a:lnTo>
                <a:lnTo>
                  <a:pt x="1531151" y="1628885"/>
                </a:lnTo>
                <a:lnTo>
                  <a:pt x="0" y="1628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745204" y="2233146"/>
            <a:ext cx="12797592" cy="2418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269"/>
              </a:lnSpc>
            </a:pPr>
            <a:r>
              <a:rPr lang="en-US" sz="10299" dirty="0">
                <a:solidFill>
                  <a:srgbClr val="5D8D69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MODEL PERFORMANCE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6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4E0"/>
            </a:solidFill>
            <a:ln w="57150" cap="sq">
              <a:solidFill>
                <a:srgbClr val="5D8D6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761922" y="2869193"/>
            <a:ext cx="11787118" cy="6592352"/>
            <a:chOff x="0" y="0"/>
            <a:chExt cx="3104426" cy="17362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04426" cy="1736257"/>
            </a:xfrm>
            <a:custGeom>
              <a:avLst/>
              <a:gdLst/>
              <a:ahLst/>
              <a:cxnLst/>
              <a:rect l="l" t="t" r="r" b="b"/>
              <a:pathLst>
                <a:path w="3104426" h="1736257">
                  <a:moveTo>
                    <a:pt x="0" y="0"/>
                  </a:moveTo>
                  <a:lnTo>
                    <a:pt x="3104426" y="0"/>
                  </a:lnTo>
                  <a:lnTo>
                    <a:pt x="3104426" y="1736257"/>
                  </a:lnTo>
                  <a:lnTo>
                    <a:pt x="0" y="1736257"/>
                  </a:lnTo>
                  <a:close/>
                </a:path>
              </a:pathLst>
            </a:custGeom>
            <a:solidFill>
              <a:srgbClr val="F8D455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104426" cy="1774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2405583">
            <a:off x="16228884" y="1861401"/>
            <a:ext cx="1597809" cy="2015585"/>
          </a:xfrm>
          <a:custGeom>
            <a:avLst/>
            <a:gdLst/>
            <a:ahLst/>
            <a:cxnLst/>
            <a:rect l="l" t="t" r="r" b="b"/>
            <a:pathLst>
              <a:path w="1597809" h="2015585">
                <a:moveTo>
                  <a:pt x="0" y="0"/>
                </a:moveTo>
                <a:lnTo>
                  <a:pt x="1597809" y="0"/>
                </a:lnTo>
                <a:lnTo>
                  <a:pt x="1597809" y="2015585"/>
                </a:lnTo>
                <a:lnTo>
                  <a:pt x="0" y="2015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267834" y="7606284"/>
            <a:ext cx="1949805" cy="1652016"/>
          </a:xfrm>
          <a:custGeom>
            <a:avLst/>
            <a:gdLst/>
            <a:ahLst/>
            <a:cxnLst/>
            <a:rect l="l" t="t" r="r" b="b"/>
            <a:pathLst>
              <a:path w="1949805" h="1652016">
                <a:moveTo>
                  <a:pt x="0" y="0"/>
                </a:moveTo>
                <a:lnTo>
                  <a:pt x="1949805" y="0"/>
                </a:lnTo>
                <a:lnTo>
                  <a:pt x="1949805" y="1652016"/>
                </a:lnTo>
                <a:lnTo>
                  <a:pt x="0" y="1652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004852" y="3078713"/>
            <a:ext cx="11301259" cy="6173313"/>
          </a:xfrm>
          <a:custGeom>
            <a:avLst/>
            <a:gdLst/>
            <a:ahLst/>
            <a:cxnLst/>
            <a:rect l="l" t="t" r="r" b="b"/>
            <a:pathLst>
              <a:path w="11301259" h="6173313">
                <a:moveTo>
                  <a:pt x="0" y="0"/>
                </a:moveTo>
                <a:lnTo>
                  <a:pt x="11301259" y="0"/>
                </a:lnTo>
                <a:lnTo>
                  <a:pt x="11301259" y="6173313"/>
                </a:lnTo>
                <a:lnTo>
                  <a:pt x="0" y="61733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88927" y="2131346"/>
            <a:ext cx="7945990" cy="3543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10"/>
              </a:lnSpc>
            </a:pPr>
            <a:r>
              <a:rPr lang="en-US" sz="14344">
                <a:solidFill>
                  <a:srgbClr val="5D8D69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ACCURACY CURVE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6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4E0"/>
            </a:solidFill>
            <a:ln w="57150" cap="sq">
              <a:solidFill>
                <a:srgbClr val="5D8D6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761922" y="2869193"/>
            <a:ext cx="11787118" cy="6592352"/>
            <a:chOff x="0" y="0"/>
            <a:chExt cx="3104426" cy="17362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04426" cy="1736257"/>
            </a:xfrm>
            <a:custGeom>
              <a:avLst/>
              <a:gdLst/>
              <a:ahLst/>
              <a:cxnLst/>
              <a:rect l="l" t="t" r="r" b="b"/>
              <a:pathLst>
                <a:path w="3104426" h="1736257">
                  <a:moveTo>
                    <a:pt x="0" y="0"/>
                  </a:moveTo>
                  <a:lnTo>
                    <a:pt x="3104426" y="0"/>
                  </a:lnTo>
                  <a:lnTo>
                    <a:pt x="3104426" y="1736257"/>
                  </a:lnTo>
                  <a:lnTo>
                    <a:pt x="0" y="1736257"/>
                  </a:lnTo>
                  <a:close/>
                </a:path>
              </a:pathLst>
            </a:custGeom>
            <a:solidFill>
              <a:srgbClr val="F8D455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104426" cy="1774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2405583">
            <a:off x="16228884" y="1861401"/>
            <a:ext cx="1597809" cy="2015585"/>
          </a:xfrm>
          <a:custGeom>
            <a:avLst/>
            <a:gdLst/>
            <a:ahLst/>
            <a:cxnLst/>
            <a:rect l="l" t="t" r="r" b="b"/>
            <a:pathLst>
              <a:path w="1597809" h="2015585">
                <a:moveTo>
                  <a:pt x="0" y="0"/>
                </a:moveTo>
                <a:lnTo>
                  <a:pt x="1597809" y="0"/>
                </a:lnTo>
                <a:lnTo>
                  <a:pt x="1597809" y="2015585"/>
                </a:lnTo>
                <a:lnTo>
                  <a:pt x="0" y="2015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267834" y="7606284"/>
            <a:ext cx="1949805" cy="1652016"/>
          </a:xfrm>
          <a:custGeom>
            <a:avLst/>
            <a:gdLst/>
            <a:ahLst/>
            <a:cxnLst/>
            <a:rect l="l" t="t" r="r" b="b"/>
            <a:pathLst>
              <a:path w="1949805" h="1652016">
                <a:moveTo>
                  <a:pt x="0" y="0"/>
                </a:moveTo>
                <a:lnTo>
                  <a:pt x="1949805" y="0"/>
                </a:lnTo>
                <a:lnTo>
                  <a:pt x="1949805" y="1652016"/>
                </a:lnTo>
                <a:lnTo>
                  <a:pt x="0" y="1652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004852" y="3114029"/>
            <a:ext cx="11301259" cy="6102680"/>
          </a:xfrm>
          <a:custGeom>
            <a:avLst/>
            <a:gdLst/>
            <a:ahLst/>
            <a:cxnLst/>
            <a:rect l="l" t="t" r="r" b="b"/>
            <a:pathLst>
              <a:path w="11301259" h="6102680">
                <a:moveTo>
                  <a:pt x="0" y="0"/>
                </a:moveTo>
                <a:lnTo>
                  <a:pt x="11301259" y="0"/>
                </a:lnTo>
                <a:lnTo>
                  <a:pt x="11301259" y="6102680"/>
                </a:lnTo>
                <a:lnTo>
                  <a:pt x="0" y="61026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88927" y="2131346"/>
            <a:ext cx="7945990" cy="3543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10"/>
              </a:lnSpc>
            </a:pPr>
            <a:r>
              <a:rPr lang="en-US" sz="14344">
                <a:solidFill>
                  <a:srgbClr val="5D8D69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LOSS CURVE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6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4E0"/>
            </a:solidFill>
            <a:ln w="57150" cap="sq">
              <a:solidFill>
                <a:srgbClr val="5D8D6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903760" y="2869193"/>
            <a:ext cx="9645281" cy="6592352"/>
            <a:chOff x="0" y="0"/>
            <a:chExt cx="2540321" cy="17362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40321" cy="1736257"/>
            </a:xfrm>
            <a:custGeom>
              <a:avLst/>
              <a:gdLst/>
              <a:ahLst/>
              <a:cxnLst/>
              <a:rect l="l" t="t" r="r" b="b"/>
              <a:pathLst>
                <a:path w="2540321" h="1736257">
                  <a:moveTo>
                    <a:pt x="0" y="0"/>
                  </a:moveTo>
                  <a:lnTo>
                    <a:pt x="2540321" y="0"/>
                  </a:lnTo>
                  <a:lnTo>
                    <a:pt x="2540321" y="1736257"/>
                  </a:lnTo>
                  <a:lnTo>
                    <a:pt x="0" y="1736257"/>
                  </a:lnTo>
                  <a:close/>
                </a:path>
              </a:pathLst>
            </a:custGeom>
            <a:solidFill>
              <a:srgbClr val="F8D455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540321" cy="1774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2405583">
            <a:off x="16228884" y="1861401"/>
            <a:ext cx="1597809" cy="2015585"/>
          </a:xfrm>
          <a:custGeom>
            <a:avLst/>
            <a:gdLst/>
            <a:ahLst/>
            <a:cxnLst/>
            <a:rect l="l" t="t" r="r" b="b"/>
            <a:pathLst>
              <a:path w="1597809" h="2015585">
                <a:moveTo>
                  <a:pt x="0" y="0"/>
                </a:moveTo>
                <a:lnTo>
                  <a:pt x="1597809" y="0"/>
                </a:lnTo>
                <a:lnTo>
                  <a:pt x="1597809" y="2015585"/>
                </a:lnTo>
                <a:lnTo>
                  <a:pt x="0" y="2015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267834" y="7606284"/>
            <a:ext cx="1949805" cy="1652016"/>
          </a:xfrm>
          <a:custGeom>
            <a:avLst/>
            <a:gdLst/>
            <a:ahLst/>
            <a:cxnLst/>
            <a:rect l="l" t="t" r="r" b="b"/>
            <a:pathLst>
              <a:path w="1949805" h="1652016">
                <a:moveTo>
                  <a:pt x="0" y="0"/>
                </a:moveTo>
                <a:lnTo>
                  <a:pt x="1949805" y="0"/>
                </a:lnTo>
                <a:lnTo>
                  <a:pt x="1949805" y="1652016"/>
                </a:lnTo>
                <a:lnTo>
                  <a:pt x="0" y="1652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212289" y="3276338"/>
            <a:ext cx="9028222" cy="5778062"/>
          </a:xfrm>
          <a:custGeom>
            <a:avLst/>
            <a:gdLst/>
            <a:ahLst/>
            <a:cxnLst/>
            <a:rect l="l" t="t" r="r" b="b"/>
            <a:pathLst>
              <a:path w="9028222" h="5778062">
                <a:moveTo>
                  <a:pt x="0" y="0"/>
                </a:moveTo>
                <a:lnTo>
                  <a:pt x="9028222" y="0"/>
                </a:lnTo>
                <a:lnTo>
                  <a:pt x="902822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88927" y="2074196"/>
            <a:ext cx="6479907" cy="556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28"/>
              </a:lnSpc>
            </a:pPr>
            <a:r>
              <a:rPr lang="en-US" sz="11698">
                <a:solidFill>
                  <a:srgbClr val="5D8D69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FINAL ACCURACY BAR CHART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8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65837">
            <a:off x="1109509" y="1162322"/>
            <a:ext cx="7472319" cy="7844128"/>
            <a:chOff x="0" y="0"/>
            <a:chExt cx="1899573" cy="19940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99573" cy="1994092"/>
            </a:xfrm>
            <a:custGeom>
              <a:avLst/>
              <a:gdLst/>
              <a:ahLst/>
              <a:cxnLst/>
              <a:rect l="l" t="t" r="r" b="b"/>
              <a:pathLst>
                <a:path w="1899573" h="1994092">
                  <a:moveTo>
                    <a:pt x="0" y="0"/>
                  </a:moveTo>
                  <a:lnTo>
                    <a:pt x="1899573" y="0"/>
                  </a:lnTo>
                  <a:lnTo>
                    <a:pt x="1899573" y="1994092"/>
                  </a:lnTo>
                  <a:lnTo>
                    <a:pt x="0" y="1994092"/>
                  </a:lnTo>
                  <a:close/>
                </a:path>
              </a:pathLst>
            </a:custGeom>
            <a:solidFill>
              <a:srgbClr val="FFF4E0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99573" cy="2032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65837">
            <a:off x="1471369" y="1490682"/>
            <a:ext cx="6801966" cy="5723145"/>
            <a:chOff x="0" y="0"/>
            <a:chExt cx="1729159" cy="14549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29159" cy="1454908"/>
            </a:xfrm>
            <a:custGeom>
              <a:avLst/>
              <a:gdLst/>
              <a:ahLst/>
              <a:cxnLst/>
              <a:rect l="l" t="t" r="r" b="b"/>
              <a:pathLst>
                <a:path w="1729159" h="1454908">
                  <a:moveTo>
                    <a:pt x="0" y="0"/>
                  </a:moveTo>
                  <a:lnTo>
                    <a:pt x="1729159" y="0"/>
                  </a:lnTo>
                  <a:lnTo>
                    <a:pt x="1729159" y="1454908"/>
                  </a:lnTo>
                  <a:lnTo>
                    <a:pt x="0" y="1454908"/>
                  </a:lnTo>
                  <a:close/>
                </a:path>
              </a:pathLst>
            </a:custGeom>
            <a:solidFill>
              <a:srgbClr val="F8D455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29159" cy="1493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65837">
            <a:off x="2177568" y="2079519"/>
            <a:ext cx="5364256" cy="4544987"/>
          </a:xfrm>
          <a:custGeom>
            <a:avLst/>
            <a:gdLst/>
            <a:ahLst/>
            <a:cxnLst/>
            <a:rect l="l" t="t" r="r" b="b"/>
            <a:pathLst>
              <a:path w="5364256" h="4544987">
                <a:moveTo>
                  <a:pt x="0" y="0"/>
                </a:moveTo>
                <a:lnTo>
                  <a:pt x="5364256" y="0"/>
                </a:lnTo>
                <a:lnTo>
                  <a:pt x="5364256" y="4544987"/>
                </a:lnTo>
                <a:lnTo>
                  <a:pt x="0" y="4544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388642" y="-127569"/>
            <a:ext cx="2354471" cy="2686638"/>
          </a:xfrm>
          <a:custGeom>
            <a:avLst/>
            <a:gdLst/>
            <a:ahLst/>
            <a:cxnLst/>
            <a:rect l="l" t="t" r="r" b="b"/>
            <a:pathLst>
              <a:path w="2354471" h="2686638">
                <a:moveTo>
                  <a:pt x="0" y="0"/>
                </a:moveTo>
                <a:lnTo>
                  <a:pt x="2354472" y="0"/>
                </a:lnTo>
                <a:lnTo>
                  <a:pt x="2354472" y="2686638"/>
                </a:lnTo>
                <a:lnTo>
                  <a:pt x="0" y="2686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527151" y="1700746"/>
            <a:ext cx="7943296" cy="357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049"/>
              </a:lnSpc>
            </a:pPr>
            <a:r>
              <a:rPr lang="en-US" sz="14499">
                <a:solidFill>
                  <a:srgbClr val="FFF4E0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INFERENCE DEMO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354221" y="5753206"/>
            <a:ext cx="7603210" cy="3505094"/>
            <a:chOff x="0" y="0"/>
            <a:chExt cx="1714576" cy="7904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14576" cy="790423"/>
            </a:xfrm>
            <a:custGeom>
              <a:avLst/>
              <a:gdLst/>
              <a:ahLst/>
              <a:cxnLst/>
              <a:rect l="l" t="t" r="r" b="b"/>
              <a:pathLst>
                <a:path w="1714576" h="790423">
                  <a:moveTo>
                    <a:pt x="0" y="0"/>
                  </a:moveTo>
                  <a:lnTo>
                    <a:pt x="1714576" y="0"/>
                  </a:lnTo>
                  <a:lnTo>
                    <a:pt x="1714576" y="790423"/>
                  </a:lnTo>
                  <a:lnTo>
                    <a:pt x="0" y="790423"/>
                  </a:lnTo>
                  <a:close/>
                </a:path>
              </a:pathLst>
            </a:custGeom>
            <a:solidFill>
              <a:srgbClr val="92BC3D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14576" cy="828523"/>
            </a:xfrm>
            <a:prstGeom prst="rect">
              <a:avLst/>
            </a:prstGeom>
          </p:spPr>
          <p:txBody>
            <a:bodyPr lIns="57267" tIns="57267" rIns="57267" bIns="57267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820101" y="6413501"/>
            <a:ext cx="6009044" cy="21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61"/>
              </a:lnSpc>
            </a:pPr>
            <a:r>
              <a:rPr lang="en-US" sz="3043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This section shows:</a:t>
            </a:r>
          </a:p>
          <a:p>
            <a:pPr marL="657133" lvl="1" indent="-328567" algn="just">
              <a:lnSpc>
                <a:spcPts val="4261"/>
              </a:lnSpc>
              <a:buFont typeface="Arial"/>
              <a:buChar char="•"/>
            </a:pPr>
            <a:r>
              <a:rPr lang="en-US" sz="3043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Three correct predictions</a:t>
            </a:r>
          </a:p>
          <a:p>
            <a:pPr marL="657133" lvl="1" indent="-328567" algn="just">
              <a:lnSpc>
                <a:spcPts val="4261"/>
              </a:lnSpc>
              <a:buFont typeface="Arial"/>
              <a:buChar char="•"/>
            </a:pPr>
            <a:r>
              <a:rPr lang="en-US" sz="3043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Three incorrect predictions</a:t>
            </a:r>
          </a:p>
          <a:p>
            <a:pPr algn="just">
              <a:lnSpc>
                <a:spcPts val="4261"/>
              </a:lnSpc>
              <a:spcBef>
                <a:spcPct val="0"/>
              </a:spcBef>
            </a:pPr>
            <a:r>
              <a:rPr lang="en-US" sz="3043">
                <a:solidFill>
                  <a:srgbClr val="FFF4E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per model</a:t>
            </a:r>
          </a:p>
        </p:txBody>
      </p:sp>
      <p:sp>
        <p:nvSpPr>
          <p:cNvPr id="17" name="Freeform 17"/>
          <p:cNvSpPr/>
          <p:nvPr/>
        </p:nvSpPr>
        <p:spPr>
          <a:xfrm rot="-138359">
            <a:off x="-1434160" y="6087776"/>
            <a:ext cx="4459800" cy="3867863"/>
          </a:xfrm>
          <a:custGeom>
            <a:avLst/>
            <a:gdLst/>
            <a:ahLst/>
            <a:cxnLst/>
            <a:rect l="l" t="t" r="r" b="b"/>
            <a:pathLst>
              <a:path w="4459800" h="3867863">
                <a:moveTo>
                  <a:pt x="0" y="0"/>
                </a:moveTo>
                <a:lnTo>
                  <a:pt x="4459799" y="0"/>
                </a:lnTo>
                <a:lnTo>
                  <a:pt x="4459799" y="3867863"/>
                </a:lnTo>
                <a:lnTo>
                  <a:pt x="0" y="38678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555919">
            <a:off x="16546928" y="3964606"/>
            <a:ext cx="821006" cy="1339921"/>
          </a:xfrm>
          <a:custGeom>
            <a:avLst/>
            <a:gdLst/>
            <a:ahLst/>
            <a:cxnLst/>
            <a:rect l="l" t="t" r="r" b="b"/>
            <a:pathLst>
              <a:path w="821006" h="1339921">
                <a:moveTo>
                  <a:pt x="0" y="0"/>
                </a:moveTo>
                <a:lnTo>
                  <a:pt x="821007" y="0"/>
                </a:lnTo>
                <a:lnTo>
                  <a:pt x="821007" y="1339921"/>
                </a:lnTo>
                <a:lnTo>
                  <a:pt x="0" y="13399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38359">
            <a:off x="-449733" y="7664143"/>
            <a:ext cx="2956865" cy="2564409"/>
          </a:xfrm>
          <a:custGeom>
            <a:avLst/>
            <a:gdLst/>
            <a:ahLst/>
            <a:cxnLst/>
            <a:rect l="l" t="t" r="r" b="b"/>
            <a:pathLst>
              <a:path w="2956865" h="2564409">
                <a:moveTo>
                  <a:pt x="0" y="0"/>
                </a:moveTo>
                <a:lnTo>
                  <a:pt x="2956866" y="0"/>
                </a:lnTo>
                <a:lnTo>
                  <a:pt x="2956866" y="2564409"/>
                </a:lnTo>
                <a:lnTo>
                  <a:pt x="0" y="2564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63770" y="4567159"/>
            <a:ext cx="1255396" cy="1152682"/>
          </a:xfrm>
          <a:custGeom>
            <a:avLst/>
            <a:gdLst/>
            <a:ahLst/>
            <a:cxnLst/>
            <a:rect l="l" t="t" r="r" b="b"/>
            <a:pathLst>
              <a:path w="1255396" h="1152682">
                <a:moveTo>
                  <a:pt x="0" y="0"/>
                </a:moveTo>
                <a:lnTo>
                  <a:pt x="1255396" y="0"/>
                </a:lnTo>
                <a:lnTo>
                  <a:pt x="1255396" y="1152682"/>
                </a:lnTo>
                <a:lnTo>
                  <a:pt x="0" y="1152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725649" y="643809"/>
            <a:ext cx="12297848" cy="8999383"/>
            <a:chOff x="0" y="0"/>
            <a:chExt cx="16397130" cy="11999177"/>
          </a:xfrm>
        </p:grpSpPr>
        <p:grpSp>
          <p:nvGrpSpPr>
            <p:cNvPr id="7" name="Group 7"/>
            <p:cNvGrpSpPr/>
            <p:nvPr/>
          </p:nvGrpSpPr>
          <p:grpSpPr>
            <a:xfrm rot="65837">
              <a:off x="110464" y="153816"/>
              <a:ext cx="16176203" cy="11691546"/>
              <a:chOff x="0" y="0"/>
              <a:chExt cx="2528978" cy="18278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528978" cy="1827850"/>
              </a:xfrm>
              <a:custGeom>
                <a:avLst/>
                <a:gdLst/>
                <a:ahLst/>
                <a:cxnLst/>
                <a:rect l="l" t="t" r="r" b="b"/>
                <a:pathLst>
                  <a:path w="2528978" h="1827850">
                    <a:moveTo>
                      <a:pt x="0" y="0"/>
                    </a:moveTo>
                    <a:lnTo>
                      <a:pt x="2528978" y="0"/>
                    </a:lnTo>
                    <a:lnTo>
                      <a:pt x="2528978" y="1827850"/>
                    </a:lnTo>
                    <a:lnTo>
                      <a:pt x="0" y="1827850"/>
                    </a:lnTo>
                    <a:close/>
                  </a:path>
                </a:pathLst>
              </a:custGeom>
              <a:solidFill>
                <a:srgbClr val="FFF4E0"/>
              </a:solidFill>
              <a:ln w="57150" cap="sq">
                <a:solidFill>
                  <a:srgbClr val="5D8D69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528978" cy="18659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65837">
              <a:off x="844266" y="800151"/>
              <a:ext cx="14708597" cy="10371555"/>
              <a:chOff x="0" y="0"/>
              <a:chExt cx="2299534" cy="162148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299534" cy="1621483"/>
              </a:xfrm>
              <a:custGeom>
                <a:avLst/>
                <a:gdLst/>
                <a:ahLst/>
                <a:cxnLst/>
                <a:rect l="l" t="t" r="r" b="b"/>
                <a:pathLst>
                  <a:path w="2299534" h="1621483">
                    <a:moveTo>
                      <a:pt x="0" y="0"/>
                    </a:moveTo>
                    <a:lnTo>
                      <a:pt x="2299534" y="0"/>
                    </a:lnTo>
                    <a:lnTo>
                      <a:pt x="2299534" y="1621483"/>
                    </a:lnTo>
                    <a:lnTo>
                      <a:pt x="0" y="1621483"/>
                    </a:lnTo>
                    <a:close/>
                  </a:path>
                </a:pathLst>
              </a:custGeom>
              <a:solidFill>
                <a:srgbClr val="F8D455"/>
              </a:solidFill>
              <a:ln w="57150" cap="sq">
                <a:solidFill>
                  <a:srgbClr val="5D8D69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2299534" cy="16595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 rot="71776">
              <a:off x="1523312" y="1192528"/>
              <a:ext cx="13350507" cy="9629053"/>
            </a:xfrm>
            <a:custGeom>
              <a:avLst/>
              <a:gdLst/>
              <a:ahLst/>
              <a:cxnLst/>
              <a:rect l="l" t="t" r="r" b="b"/>
              <a:pathLst>
                <a:path w="13350507" h="9629053">
                  <a:moveTo>
                    <a:pt x="0" y="0"/>
                  </a:moveTo>
                  <a:lnTo>
                    <a:pt x="13350507" y="0"/>
                  </a:lnTo>
                  <a:lnTo>
                    <a:pt x="13350507" y="9629053"/>
                  </a:lnTo>
                  <a:lnTo>
                    <a:pt x="0" y="9629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432133" y="1767097"/>
            <a:ext cx="6485655" cy="518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4400" dirty="0">
                <a:solidFill>
                  <a:srgbClr val="5D8D69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EFFICIENT NET B3</a:t>
            </a:r>
          </a:p>
        </p:txBody>
      </p:sp>
      <p:sp>
        <p:nvSpPr>
          <p:cNvPr id="15" name="Freeform 15"/>
          <p:cNvSpPr/>
          <p:nvPr/>
        </p:nvSpPr>
        <p:spPr>
          <a:xfrm>
            <a:off x="17030161" y="2506106"/>
            <a:ext cx="1986673" cy="3213735"/>
          </a:xfrm>
          <a:custGeom>
            <a:avLst/>
            <a:gdLst/>
            <a:ahLst/>
            <a:cxnLst/>
            <a:rect l="l" t="t" r="r" b="b"/>
            <a:pathLst>
              <a:path w="1986673" h="3213735">
                <a:moveTo>
                  <a:pt x="0" y="0"/>
                </a:moveTo>
                <a:lnTo>
                  <a:pt x="1986672" y="0"/>
                </a:lnTo>
                <a:lnTo>
                  <a:pt x="1986672" y="3213735"/>
                </a:lnTo>
                <a:lnTo>
                  <a:pt x="0" y="32137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38359">
            <a:off x="-449733" y="7664143"/>
            <a:ext cx="2956865" cy="2564409"/>
          </a:xfrm>
          <a:custGeom>
            <a:avLst/>
            <a:gdLst/>
            <a:ahLst/>
            <a:cxnLst/>
            <a:rect l="l" t="t" r="r" b="b"/>
            <a:pathLst>
              <a:path w="2956865" h="2564409">
                <a:moveTo>
                  <a:pt x="0" y="0"/>
                </a:moveTo>
                <a:lnTo>
                  <a:pt x="2956866" y="0"/>
                </a:lnTo>
                <a:lnTo>
                  <a:pt x="2956866" y="2564409"/>
                </a:lnTo>
                <a:lnTo>
                  <a:pt x="0" y="2564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63770" y="4567159"/>
            <a:ext cx="1255396" cy="1152682"/>
          </a:xfrm>
          <a:custGeom>
            <a:avLst/>
            <a:gdLst/>
            <a:ahLst/>
            <a:cxnLst/>
            <a:rect l="l" t="t" r="r" b="b"/>
            <a:pathLst>
              <a:path w="1255396" h="1152682">
                <a:moveTo>
                  <a:pt x="0" y="0"/>
                </a:moveTo>
                <a:lnTo>
                  <a:pt x="1255396" y="0"/>
                </a:lnTo>
                <a:lnTo>
                  <a:pt x="1255396" y="1152682"/>
                </a:lnTo>
                <a:lnTo>
                  <a:pt x="0" y="1152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65837">
            <a:off x="5808497" y="759170"/>
            <a:ext cx="12132152" cy="8768659"/>
            <a:chOff x="0" y="0"/>
            <a:chExt cx="2528978" cy="1827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28978" cy="1827850"/>
            </a:xfrm>
            <a:custGeom>
              <a:avLst/>
              <a:gdLst/>
              <a:ahLst/>
              <a:cxnLst/>
              <a:rect l="l" t="t" r="r" b="b"/>
              <a:pathLst>
                <a:path w="2528978" h="1827850">
                  <a:moveTo>
                    <a:pt x="0" y="0"/>
                  </a:moveTo>
                  <a:lnTo>
                    <a:pt x="2528978" y="0"/>
                  </a:lnTo>
                  <a:lnTo>
                    <a:pt x="2528978" y="1827850"/>
                  </a:lnTo>
                  <a:lnTo>
                    <a:pt x="0" y="1827850"/>
                  </a:lnTo>
                  <a:close/>
                </a:path>
              </a:pathLst>
            </a:custGeom>
            <a:solidFill>
              <a:srgbClr val="FFF4E0"/>
            </a:solidFill>
            <a:ln w="57150" cap="sq">
              <a:solidFill>
                <a:srgbClr val="5D8D69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28978" cy="1865950"/>
            </a:xfrm>
            <a:prstGeom prst="rect">
              <a:avLst/>
            </a:prstGeom>
          </p:spPr>
          <p:txBody>
            <a:bodyPr lIns="61952" tIns="61952" rIns="61952" bIns="6195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65837">
            <a:off x="6358849" y="1243922"/>
            <a:ext cx="11031448" cy="7778666"/>
            <a:chOff x="0" y="0"/>
            <a:chExt cx="2299534" cy="16214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99534" cy="1621483"/>
            </a:xfrm>
            <a:custGeom>
              <a:avLst/>
              <a:gdLst/>
              <a:ahLst/>
              <a:cxnLst/>
              <a:rect l="l" t="t" r="r" b="b"/>
              <a:pathLst>
                <a:path w="2299534" h="1621483">
                  <a:moveTo>
                    <a:pt x="0" y="0"/>
                  </a:moveTo>
                  <a:lnTo>
                    <a:pt x="2299534" y="0"/>
                  </a:lnTo>
                  <a:lnTo>
                    <a:pt x="2299534" y="1621483"/>
                  </a:lnTo>
                  <a:lnTo>
                    <a:pt x="0" y="1621483"/>
                  </a:lnTo>
                  <a:close/>
                </a:path>
              </a:pathLst>
            </a:custGeom>
            <a:solidFill>
              <a:srgbClr val="F8D455"/>
            </a:solidFill>
            <a:ln w="57150" cap="sq">
              <a:solidFill>
                <a:srgbClr val="5D8D69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99534" cy="1659583"/>
            </a:xfrm>
            <a:prstGeom prst="rect">
              <a:avLst/>
            </a:prstGeom>
          </p:spPr>
          <p:txBody>
            <a:bodyPr lIns="61952" tIns="61952" rIns="61952" bIns="6195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670669" y="1805197"/>
            <a:ext cx="1986673" cy="3213735"/>
          </a:xfrm>
          <a:custGeom>
            <a:avLst/>
            <a:gdLst/>
            <a:ahLst/>
            <a:cxnLst/>
            <a:rect l="l" t="t" r="r" b="b"/>
            <a:pathLst>
              <a:path w="1986673" h="3213735">
                <a:moveTo>
                  <a:pt x="0" y="0"/>
                </a:moveTo>
                <a:lnTo>
                  <a:pt x="1986672" y="0"/>
                </a:lnTo>
                <a:lnTo>
                  <a:pt x="1986672" y="3213735"/>
                </a:lnTo>
                <a:lnTo>
                  <a:pt x="0" y="3213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61142">
            <a:off x="6539456" y="1375341"/>
            <a:ext cx="9744867" cy="4056301"/>
          </a:xfrm>
          <a:custGeom>
            <a:avLst/>
            <a:gdLst/>
            <a:ahLst/>
            <a:cxnLst/>
            <a:rect l="l" t="t" r="r" b="b"/>
            <a:pathLst>
              <a:path w="9744867" h="4056301">
                <a:moveTo>
                  <a:pt x="0" y="0"/>
                </a:moveTo>
                <a:lnTo>
                  <a:pt x="9744867" y="0"/>
                </a:lnTo>
                <a:lnTo>
                  <a:pt x="9744867" y="4056301"/>
                </a:lnTo>
                <a:lnTo>
                  <a:pt x="0" y="4056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432133" y="1805197"/>
            <a:ext cx="6485655" cy="5814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9"/>
              </a:lnSpc>
            </a:pPr>
            <a:r>
              <a:rPr lang="en-US" sz="16099" dirty="0">
                <a:solidFill>
                  <a:srgbClr val="5D8D69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RES </a:t>
            </a:r>
          </a:p>
          <a:p>
            <a:pPr algn="l">
              <a:lnSpc>
                <a:spcPts val="14489"/>
              </a:lnSpc>
            </a:pPr>
            <a:r>
              <a:rPr lang="en-US" sz="16099" dirty="0">
                <a:solidFill>
                  <a:srgbClr val="5D8D69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NET </a:t>
            </a:r>
          </a:p>
          <a:p>
            <a:pPr algn="l">
              <a:lnSpc>
                <a:spcPts val="14489"/>
              </a:lnSpc>
            </a:pPr>
            <a:r>
              <a:rPr lang="en-US" sz="16099" dirty="0">
                <a:solidFill>
                  <a:srgbClr val="5D8D69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101</a:t>
            </a:r>
          </a:p>
        </p:txBody>
      </p:sp>
      <p:sp>
        <p:nvSpPr>
          <p:cNvPr id="15" name="Freeform 15"/>
          <p:cNvSpPr/>
          <p:nvPr/>
        </p:nvSpPr>
        <p:spPr>
          <a:xfrm rot="77136">
            <a:off x="7460044" y="4983261"/>
            <a:ext cx="9757248" cy="3854113"/>
          </a:xfrm>
          <a:custGeom>
            <a:avLst/>
            <a:gdLst/>
            <a:ahLst/>
            <a:cxnLst/>
            <a:rect l="l" t="t" r="r" b="b"/>
            <a:pathLst>
              <a:path w="9757248" h="3854113">
                <a:moveTo>
                  <a:pt x="0" y="0"/>
                </a:moveTo>
                <a:lnTo>
                  <a:pt x="9757248" y="0"/>
                </a:lnTo>
                <a:lnTo>
                  <a:pt x="9757248" y="3854113"/>
                </a:lnTo>
                <a:lnTo>
                  <a:pt x="0" y="38541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38359">
            <a:off x="-449733" y="7664143"/>
            <a:ext cx="2956865" cy="2564409"/>
          </a:xfrm>
          <a:custGeom>
            <a:avLst/>
            <a:gdLst/>
            <a:ahLst/>
            <a:cxnLst/>
            <a:rect l="l" t="t" r="r" b="b"/>
            <a:pathLst>
              <a:path w="2956865" h="2564409">
                <a:moveTo>
                  <a:pt x="0" y="0"/>
                </a:moveTo>
                <a:lnTo>
                  <a:pt x="2956866" y="0"/>
                </a:lnTo>
                <a:lnTo>
                  <a:pt x="2956866" y="2564409"/>
                </a:lnTo>
                <a:lnTo>
                  <a:pt x="0" y="2564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63770" y="4567159"/>
            <a:ext cx="1255396" cy="1152682"/>
          </a:xfrm>
          <a:custGeom>
            <a:avLst/>
            <a:gdLst/>
            <a:ahLst/>
            <a:cxnLst/>
            <a:rect l="l" t="t" r="r" b="b"/>
            <a:pathLst>
              <a:path w="1255396" h="1152682">
                <a:moveTo>
                  <a:pt x="0" y="0"/>
                </a:moveTo>
                <a:lnTo>
                  <a:pt x="1255396" y="0"/>
                </a:lnTo>
                <a:lnTo>
                  <a:pt x="1255396" y="1152682"/>
                </a:lnTo>
                <a:lnTo>
                  <a:pt x="0" y="1152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65837">
            <a:off x="5808497" y="759170"/>
            <a:ext cx="12132152" cy="8768659"/>
            <a:chOff x="0" y="0"/>
            <a:chExt cx="2528978" cy="1827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28978" cy="1827850"/>
            </a:xfrm>
            <a:custGeom>
              <a:avLst/>
              <a:gdLst/>
              <a:ahLst/>
              <a:cxnLst/>
              <a:rect l="l" t="t" r="r" b="b"/>
              <a:pathLst>
                <a:path w="2528978" h="1827850">
                  <a:moveTo>
                    <a:pt x="0" y="0"/>
                  </a:moveTo>
                  <a:lnTo>
                    <a:pt x="2528978" y="0"/>
                  </a:lnTo>
                  <a:lnTo>
                    <a:pt x="2528978" y="1827850"/>
                  </a:lnTo>
                  <a:lnTo>
                    <a:pt x="0" y="1827850"/>
                  </a:lnTo>
                  <a:close/>
                </a:path>
              </a:pathLst>
            </a:custGeom>
            <a:solidFill>
              <a:srgbClr val="FFF4E0"/>
            </a:solidFill>
            <a:ln w="57150" cap="sq">
              <a:solidFill>
                <a:srgbClr val="5D8D69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28978" cy="1865950"/>
            </a:xfrm>
            <a:prstGeom prst="rect">
              <a:avLst/>
            </a:prstGeom>
          </p:spPr>
          <p:txBody>
            <a:bodyPr lIns="61952" tIns="61952" rIns="61952" bIns="6195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65837">
            <a:off x="6358849" y="1243922"/>
            <a:ext cx="11031448" cy="7778666"/>
            <a:chOff x="0" y="0"/>
            <a:chExt cx="2299534" cy="16214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99534" cy="1621483"/>
            </a:xfrm>
            <a:custGeom>
              <a:avLst/>
              <a:gdLst/>
              <a:ahLst/>
              <a:cxnLst/>
              <a:rect l="l" t="t" r="r" b="b"/>
              <a:pathLst>
                <a:path w="2299534" h="1621483">
                  <a:moveTo>
                    <a:pt x="0" y="0"/>
                  </a:moveTo>
                  <a:lnTo>
                    <a:pt x="2299534" y="0"/>
                  </a:lnTo>
                  <a:lnTo>
                    <a:pt x="2299534" y="1621483"/>
                  </a:lnTo>
                  <a:lnTo>
                    <a:pt x="0" y="1621483"/>
                  </a:lnTo>
                  <a:close/>
                </a:path>
              </a:pathLst>
            </a:custGeom>
            <a:solidFill>
              <a:srgbClr val="F8D455"/>
            </a:solidFill>
            <a:ln w="57150" cap="sq">
              <a:solidFill>
                <a:srgbClr val="5D8D69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99534" cy="1659583"/>
            </a:xfrm>
            <a:prstGeom prst="rect">
              <a:avLst/>
            </a:prstGeom>
          </p:spPr>
          <p:txBody>
            <a:bodyPr lIns="61952" tIns="61952" rIns="61952" bIns="61952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7030161" y="2506106"/>
            <a:ext cx="1986673" cy="3213735"/>
          </a:xfrm>
          <a:custGeom>
            <a:avLst/>
            <a:gdLst/>
            <a:ahLst/>
            <a:cxnLst/>
            <a:rect l="l" t="t" r="r" b="b"/>
            <a:pathLst>
              <a:path w="1986673" h="3213735">
                <a:moveTo>
                  <a:pt x="0" y="0"/>
                </a:moveTo>
                <a:lnTo>
                  <a:pt x="1986672" y="0"/>
                </a:lnTo>
                <a:lnTo>
                  <a:pt x="1986672" y="3213735"/>
                </a:lnTo>
                <a:lnTo>
                  <a:pt x="0" y="3213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82399">
            <a:off x="6981276" y="1436827"/>
            <a:ext cx="9786594" cy="7413345"/>
          </a:xfrm>
          <a:custGeom>
            <a:avLst/>
            <a:gdLst/>
            <a:ahLst/>
            <a:cxnLst/>
            <a:rect l="l" t="t" r="r" b="b"/>
            <a:pathLst>
              <a:path w="9786594" h="7413345">
                <a:moveTo>
                  <a:pt x="0" y="0"/>
                </a:moveTo>
                <a:lnTo>
                  <a:pt x="9786594" y="0"/>
                </a:lnTo>
                <a:lnTo>
                  <a:pt x="9786594" y="7413346"/>
                </a:lnTo>
                <a:lnTo>
                  <a:pt x="0" y="74133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432133" y="1767097"/>
            <a:ext cx="6485655" cy="504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4400" dirty="0">
                <a:solidFill>
                  <a:srgbClr val="5D8D69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DENSE NET </a:t>
            </a:r>
          </a:p>
          <a:p>
            <a:pPr algn="l">
              <a:lnSpc>
                <a:spcPts val="12960"/>
              </a:lnSpc>
            </a:pPr>
            <a:r>
              <a:rPr lang="en-US" sz="14400" dirty="0">
                <a:solidFill>
                  <a:srgbClr val="5D8D69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201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8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604686" y="1753813"/>
            <a:ext cx="11078628" cy="298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12000">
                <a:solidFill>
                  <a:srgbClr val="FFF4E0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LEARNINGS &amp; CONTRIBUTIONS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-267834" y="6224079"/>
            <a:ext cx="4393894" cy="3555060"/>
          </a:xfrm>
          <a:custGeom>
            <a:avLst/>
            <a:gdLst/>
            <a:ahLst/>
            <a:cxnLst/>
            <a:rect l="l" t="t" r="r" b="b"/>
            <a:pathLst>
              <a:path w="4393894" h="3555060">
                <a:moveTo>
                  <a:pt x="4393894" y="0"/>
                </a:moveTo>
                <a:lnTo>
                  <a:pt x="0" y="0"/>
                </a:lnTo>
                <a:lnTo>
                  <a:pt x="0" y="3555060"/>
                </a:lnTo>
                <a:lnTo>
                  <a:pt x="4393894" y="3555060"/>
                </a:lnTo>
                <a:lnTo>
                  <a:pt x="43938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544882" y="5279848"/>
            <a:ext cx="13198237" cy="3714972"/>
            <a:chOff x="0" y="0"/>
            <a:chExt cx="3355185" cy="94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55186" cy="944400"/>
            </a:xfrm>
            <a:custGeom>
              <a:avLst/>
              <a:gdLst/>
              <a:ahLst/>
              <a:cxnLst/>
              <a:rect l="l" t="t" r="r" b="b"/>
              <a:pathLst>
                <a:path w="3355186" h="944400">
                  <a:moveTo>
                    <a:pt x="0" y="0"/>
                  </a:moveTo>
                  <a:lnTo>
                    <a:pt x="3355186" y="0"/>
                  </a:lnTo>
                  <a:lnTo>
                    <a:pt x="3355186" y="944400"/>
                  </a:lnTo>
                  <a:lnTo>
                    <a:pt x="0" y="944400"/>
                  </a:lnTo>
                  <a:close/>
                </a:path>
              </a:pathLst>
            </a:custGeom>
            <a:solidFill>
              <a:srgbClr val="92BC3D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355185" cy="98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472126" y="0"/>
            <a:ext cx="220122" cy="5762597"/>
            <a:chOff x="0" y="0"/>
            <a:chExt cx="57975" cy="15177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975" cy="1517721"/>
            </a:xfrm>
            <a:custGeom>
              <a:avLst/>
              <a:gdLst/>
              <a:ahLst/>
              <a:cxnLst/>
              <a:rect l="l" t="t" r="r" b="b"/>
              <a:pathLst>
                <a:path w="57975" h="1517721">
                  <a:moveTo>
                    <a:pt x="0" y="0"/>
                  </a:moveTo>
                  <a:lnTo>
                    <a:pt x="57975" y="0"/>
                  </a:lnTo>
                  <a:lnTo>
                    <a:pt x="57975" y="1517721"/>
                  </a:lnTo>
                  <a:lnTo>
                    <a:pt x="0" y="1517721"/>
                  </a:lnTo>
                  <a:close/>
                </a:path>
              </a:pathLst>
            </a:custGeom>
            <a:solidFill>
              <a:srgbClr val="F0C64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7975" cy="1555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351447" y="5531856"/>
            <a:ext cx="461482" cy="46148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502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549048" y="-115370"/>
            <a:ext cx="221829" cy="5877968"/>
            <a:chOff x="0" y="0"/>
            <a:chExt cx="58424" cy="154810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424" cy="1548107"/>
            </a:xfrm>
            <a:custGeom>
              <a:avLst/>
              <a:gdLst/>
              <a:ahLst/>
              <a:cxnLst/>
              <a:rect l="l" t="t" r="r" b="b"/>
              <a:pathLst>
                <a:path w="58424" h="1548107">
                  <a:moveTo>
                    <a:pt x="0" y="0"/>
                  </a:moveTo>
                  <a:lnTo>
                    <a:pt x="58424" y="0"/>
                  </a:lnTo>
                  <a:lnTo>
                    <a:pt x="58424" y="1548107"/>
                  </a:lnTo>
                  <a:lnTo>
                    <a:pt x="0" y="1548107"/>
                  </a:lnTo>
                  <a:close/>
                </a:path>
              </a:pathLst>
            </a:custGeom>
            <a:solidFill>
              <a:srgbClr val="F0C64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8424" cy="158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452573" y="5531856"/>
            <a:ext cx="461482" cy="4614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502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6088801" y="1404752"/>
            <a:ext cx="2340997" cy="2953093"/>
          </a:xfrm>
          <a:custGeom>
            <a:avLst/>
            <a:gdLst/>
            <a:ahLst/>
            <a:cxnLst/>
            <a:rect l="l" t="t" r="r" b="b"/>
            <a:pathLst>
              <a:path w="2340997" h="2953093">
                <a:moveTo>
                  <a:pt x="0" y="0"/>
                </a:moveTo>
                <a:lnTo>
                  <a:pt x="2340998" y="0"/>
                </a:lnTo>
                <a:lnTo>
                  <a:pt x="2340998" y="2953093"/>
                </a:lnTo>
                <a:lnTo>
                  <a:pt x="0" y="2953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1284892">
            <a:off x="-313210" y="1241186"/>
            <a:ext cx="2683821" cy="3280225"/>
          </a:xfrm>
          <a:custGeom>
            <a:avLst/>
            <a:gdLst/>
            <a:ahLst/>
            <a:cxnLst/>
            <a:rect l="l" t="t" r="r" b="b"/>
            <a:pathLst>
              <a:path w="2683821" h="3280225">
                <a:moveTo>
                  <a:pt x="0" y="0"/>
                </a:moveTo>
                <a:lnTo>
                  <a:pt x="2683820" y="0"/>
                </a:lnTo>
                <a:lnTo>
                  <a:pt x="2683820" y="3280225"/>
                </a:lnTo>
                <a:lnTo>
                  <a:pt x="0" y="32802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4597893" y="5279848"/>
            <a:ext cx="2870236" cy="4643029"/>
          </a:xfrm>
          <a:custGeom>
            <a:avLst/>
            <a:gdLst/>
            <a:ahLst/>
            <a:cxnLst/>
            <a:rect l="l" t="t" r="r" b="b"/>
            <a:pathLst>
              <a:path w="2870236" h="4643029">
                <a:moveTo>
                  <a:pt x="0" y="0"/>
                </a:moveTo>
                <a:lnTo>
                  <a:pt x="2870236" y="0"/>
                </a:lnTo>
                <a:lnTo>
                  <a:pt x="2870236" y="4643029"/>
                </a:lnTo>
                <a:lnTo>
                  <a:pt x="0" y="46430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867035" y="5474706"/>
            <a:ext cx="12553930" cy="3322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Technical Learning</a:t>
            </a:r>
          </a:p>
          <a:p>
            <a:pPr algn="ctr">
              <a:lnSpc>
                <a:spcPts val="3779"/>
              </a:lnSpc>
            </a:pPr>
            <a:endParaRPr lang="en-US" sz="2699">
              <a:solidFill>
                <a:srgbClr val="FFFFFF"/>
              </a:solidFill>
              <a:latin typeface="Milk Tea Font TH"/>
              <a:ea typeface="Milk Tea Font TH"/>
              <a:cs typeface="Milk Tea Font TH"/>
              <a:sym typeface="Milk Tea Font TH"/>
            </a:endParaRP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Preprocessing large datasets and creating Keras-friendly directory structures</a:t>
            </a: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Using ImageDataGenerator + augmentation</a:t>
            </a: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Training large CNN architectures on limited GPU time</a:t>
            </a: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Managing model saving, history logs, metrics, and confusion matrices</a:t>
            </a:r>
          </a:p>
          <a:p>
            <a:pPr marL="582925" lvl="1" indent="-291463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Using transfer learning and selective layer unfreezing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8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604686" y="1753813"/>
            <a:ext cx="11078628" cy="298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12000">
                <a:solidFill>
                  <a:srgbClr val="FFF4E0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LEARNINGS &amp; CONTRIBUTIONS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-267834" y="6224079"/>
            <a:ext cx="4393894" cy="3555060"/>
          </a:xfrm>
          <a:custGeom>
            <a:avLst/>
            <a:gdLst/>
            <a:ahLst/>
            <a:cxnLst/>
            <a:rect l="l" t="t" r="r" b="b"/>
            <a:pathLst>
              <a:path w="4393894" h="3555060">
                <a:moveTo>
                  <a:pt x="4393894" y="0"/>
                </a:moveTo>
                <a:lnTo>
                  <a:pt x="0" y="0"/>
                </a:lnTo>
                <a:lnTo>
                  <a:pt x="0" y="3555060"/>
                </a:lnTo>
                <a:lnTo>
                  <a:pt x="4393894" y="3555060"/>
                </a:lnTo>
                <a:lnTo>
                  <a:pt x="43938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544882" y="5279848"/>
            <a:ext cx="13198237" cy="3714972"/>
            <a:chOff x="0" y="0"/>
            <a:chExt cx="3355185" cy="94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55186" cy="944400"/>
            </a:xfrm>
            <a:custGeom>
              <a:avLst/>
              <a:gdLst/>
              <a:ahLst/>
              <a:cxnLst/>
              <a:rect l="l" t="t" r="r" b="b"/>
              <a:pathLst>
                <a:path w="3355186" h="944400">
                  <a:moveTo>
                    <a:pt x="0" y="0"/>
                  </a:moveTo>
                  <a:lnTo>
                    <a:pt x="3355186" y="0"/>
                  </a:lnTo>
                  <a:lnTo>
                    <a:pt x="3355186" y="944400"/>
                  </a:lnTo>
                  <a:lnTo>
                    <a:pt x="0" y="944400"/>
                  </a:lnTo>
                  <a:close/>
                </a:path>
              </a:pathLst>
            </a:custGeom>
            <a:solidFill>
              <a:srgbClr val="92BC3D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355185" cy="98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472126" y="0"/>
            <a:ext cx="220122" cy="5762597"/>
            <a:chOff x="0" y="0"/>
            <a:chExt cx="57975" cy="15177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975" cy="1517721"/>
            </a:xfrm>
            <a:custGeom>
              <a:avLst/>
              <a:gdLst/>
              <a:ahLst/>
              <a:cxnLst/>
              <a:rect l="l" t="t" r="r" b="b"/>
              <a:pathLst>
                <a:path w="57975" h="1517721">
                  <a:moveTo>
                    <a:pt x="0" y="0"/>
                  </a:moveTo>
                  <a:lnTo>
                    <a:pt x="57975" y="0"/>
                  </a:lnTo>
                  <a:lnTo>
                    <a:pt x="57975" y="1517721"/>
                  </a:lnTo>
                  <a:lnTo>
                    <a:pt x="0" y="1517721"/>
                  </a:lnTo>
                  <a:close/>
                </a:path>
              </a:pathLst>
            </a:custGeom>
            <a:solidFill>
              <a:srgbClr val="F0C64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7975" cy="1555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351447" y="5531856"/>
            <a:ext cx="461482" cy="46148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502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549048" y="-115370"/>
            <a:ext cx="221829" cy="5877968"/>
            <a:chOff x="0" y="0"/>
            <a:chExt cx="58424" cy="154810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424" cy="1548107"/>
            </a:xfrm>
            <a:custGeom>
              <a:avLst/>
              <a:gdLst/>
              <a:ahLst/>
              <a:cxnLst/>
              <a:rect l="l" t="t" r="r" b="b"/>
              <a:pathLst>
                <a:path w="58424" h="1548107">
                  <a:moveTo>
                    <a:pt x="0" y="0"/>
                  </a:moveTo>
                  <a:lnTo>
                    <a:pt x="58424" y="0"/>
                  </a:lnTo>
                  <a:lnTo>
                    <a:pt x="58424" y="1548107"/>
                  </a:lnTo>
                  <a:lnTo>
                    <a:pt x="0" y="1548107"/>
                  </a:lnTo>
                  <a:close/>
                </a:path>
              </a:pathLst>
            </a:custGeom>
            <a:solidFill>
              <a:srgbClr val="F0C64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8424" cy="158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452573" y="5531856"/>
            <a:ext cx="461482" cy="4614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502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6088801" y="1404752"/>
            <a:ext cx="2340997" cy="2953093"/>
          </a:xfrm>
          <a:custGeom>
            <a:avLst/>
            <a:gdLst/>
            <a:ahLst/>
            <a:cxnLst/>
            <a:rect l="l" t="t" r="r" b="b"/>
            <a:pathLst>
              <a:path w="2340997" h="2953093">
                <a:moveTo>
                  <a:pt x="0" y="0"/>
                </a:moveTo>
                <a:lnTo>
                  <a:pt x="2340998" y="0"/>
                </a:lnTo>
                <a:lnTo>
                  <a:pt x="2340998" y="2953093"/>
                </a:lnTo>
                <a:lnTo>
                  <a:pt x="0" y="2953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1284892">
            <a:off x="-313210" y="1241186"/>
            <a:ext cx="2683821" cy="3280225"/>
          </a:xfrm>
          <a:custGeom>
            <a:avLst/>
            <a:gdLst/>
            <a:ahLst/>
            <a:cxnLst/>
            <a:rect l="l" t="t" r="r" b="b"/>
            <a:pathLst>
              <a:path w="2683821" h="3280225">
                <a:moveTo>
                  <a:pt x="0" y="0"/>
                </a:moveTo>
                <a:lnTo>
                  <a:pt x="2683820" y="0"/>
                </a:lnTo>
                <a:lnTo>
                  <a:pt x="2683820" y="3280225"/>
                </a:lnTo>
                <a:lnTo>
                  <a:pt x="0" y="32802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4597893" y="5279848"/>
            <a:ext cx="2870236" cy="4643029"/>
          </a:xfrm>
          <a:custGeom>
            <a:avLst/>
            <a:gdLst/>
            <a:ahLst/>
            <a:cxnLst/>
            <a:rect l="l" t="t" r="r" b="b"/>
            <a:pathLst>
              <a:path w="2870236" h="4643029">
                <a:moveTo>
                  <a:pt x="0" y="0"/>
                </a:moveTo>
                <a:lnTo>
                  <a:pt x="2870236" y="0"/>
                </a:lnTo>
                <a:lnTo>
                  <a:pt x="2870236" y="4643029"/>
                </a:lnTo>
                <a:lnTo>
                  <a:pt x="0" y="46430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4580306" y="5474706"/>
            <a:ext cx="9127388" cy="3322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Personal Contributions</a:t>
            </a:r>
          </a:p>
          <a:p>
            <a:pPr algn="ctr">
              <a:lnSpc>
                <a:spcPts val="3779"/>
              </a:lnSpc>
            </a:pPr>
            <a:endParaRPr lang="en-US" sz="2699">
              <a:solidFill>
                <a:srgbClr val="FFFFFF"/>
              </a:solidFill>
              <a:latin typeface="Milk Tea Font TH"/>
              <a:ea typeface="Milk Tea Font TH"/>
              <a:cs typeface="Milk Tea Font TH"/>
              <a:sym typeface="Milk Tea Font TH"/>
            </a:endParaRP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Dataset organization and preprocessing</a:t>
            </a: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Implemented training pipeline for all models</a:t>
            </a: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Designed comparison framework and metrics extraction</a:t>
            </a: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Developed final comparison notebook</a:t>
            </a:r>
          </a:p>
          <a:p>
            <a:pPr marL="582925" lvl="1" indent="-291463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Conducted inference visualization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6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77325">
            <a:off x="8150460" y="1595702"/>
            <a:ext cx="9081097" cy="7662286"/>
            <a:chOff x="0" y="0"/>
            <a:chExt cx="2308548" cy="19478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8548" cy="1947865"/>
            </a:xfrm>
            <a:custGeom>
              <a:avLst/>
              <a:gdLst/>
              <a:ahLst/>
              <a:cxnLst/>
              <a:rect l="l" t="t" r="r" b="b"/>
              <a:pathLst>
                <a:path w="2308548" h="1947865">
                  <a:moveTo>
                    <a:pt x="0" y="0"/>
                  </a:moveTo>
                  <a:lnTo>
                    <a:pt x="2308548" y="0"/>
                  </a:lnTo>
                  <a:lnTo>
                    <a:pt x="2308548" y="1947865"/>
                  </a:lnTo>
                  <a:lnTo>
                    <a:pt x="0" y="1947865"/>
                  </a:lnTo>
                  <a:close/>
                </a:path>
              </a:pathLst>
            </a:custGeom>
            <a:solidFill>
              <a:srgbClr val="FFF4E0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08548" cy="1985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77325">
            <a:off x="9399057" y="-943556"/>
            <a:ext cx="264892" cy="3657059"/>
            <a:chOff x="0" y="0"/>
            <a:chExt cx="69766" cy="9631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766" cy="963176"/>
            </a:xfrm>
            <a:custGeom>
              <a:avLst/>
              <a:gdLst/>
              <a:ahLst/>
              <a:cxnLst/>
              <a:rect l="l" t="t" r="r" b="b"/>
              <a:pathLst>
                <a:path w="69766" h="963176">
                  <a:moveTo>
                    <a:pt x="0" y="0"/>
                  </a:moveTo>
                  <a:lnTo>
                    <a:pt x="69766" y="0"/>
                  </a:lnTo>
                  <a:lnTo>
                    <a:pt x="69766" y="963176"/>
                  </a:lnTo>
                  <a:lnTo>
                    <a:pt x="0" y="963176"/>
                  </a:lnTo>
                  <a:close/>
                </a:path>
              </a:pathLst>
            </a:custGeom>
            <a:solidFill>
              <a:srgbClr val="F8D45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9766" cy="1001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77325">
            <a:off x="9259636" y="2482299"/>
            <a:ext cx="461482" cy="46148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502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77325">
            <a:off x="15971204" y="-795703"/>
            <a:ext cx="264892" cy="3657059"/>
            <a:chOff x="0" y="0"/>
            <a:chExt cx="69766" cy="9631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766" cy="963176"/>
            </a:xfrm>
            <a:custGeom>
              <a:avLst/>
              <a:gdLst/>
              <a:ahLst/>
              <a:cxnLst/>
              <a:rect l="l" t="t" r="r" b="b"/>
              <a:pathLst>
                <a:path w="69766" h="963176">
                  <a:moveTo>
                    <a:pt x="0" y="0"/>
                  </a:moveTo>
                  <a:lnTo>
                    <a:pt x="69766" y="0"/>
                  </a:lnTo>
                  <a:lnTo>
                    <a:pt x="69766" y="963176"/>
                  </a:lnTo>
                  <a:lnTo>
                    <a:pt x="0" y="963176"/>
                  </a:lnTo>
                  <a:close/>
                </a:path>
              </a:pathLst>
            </a:custGeom>
            <a:solidFill>
              <a:srgbClr val="F8D45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9766" cy="1001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77325">
            <a:off x="15831998" y="2620630"/>
            <a:ext cx="461482" cy="46148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502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32320">
            <a:off x="1113165" y="1620190"/>
            <a:ext cx="6278012" cy="7571319"/>
            <a:chOff x="0" y="0"/>
            <a:chExt cx="1653468" cy="19940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53468" cy="1994092"/>
            </a:xfrm>
            <a:custGeom>
              <a:avLst/>
              <a:gdLst/>
              <a:ahLst/>
              <a:cxnLst/>
              <a:rect l="l" t="t" r="r" b="b"/>
              <a:pathLst>
                <a:path w="1653468" h="1994092">
                  <a:moveTo>
                    <a:pt x="0" y="0"/>
                  </a:moveTo>
                  <a:lnTo>
                    <a:pt x="1653468" y="0"/>
                  </a:lnTo>
                  <a:lnTo>
                    <a:pt x="1653468" y="1994092"/>
                  </a:lnTo>
                  <a:lnTo>
                    <a:pt x="0" y="1994092"/>
                  </a:lnTo>
                  <a:close/>
                </a:path>
              </a:pathLst>
            </a:custGeom>
            <a:solidFill>
              <a:srgbClr val="FFF4E0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653468" cy="2032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32320">
            <a:off x="1379372" y="2021889"/>
            <a:ext cx="5725347" cy="5115046"/>
            <a:chOff x="0" y="0"/>
            <a:chExt cx="1507910" cy="134717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07910" cy="1347173"/>
            </a:xfrm>
            <a:custGeom>
              <a:avLst/>
              <a:gdLst/>
              <a:ahLst/>
              <a:cxnLst/>
              <a:rect l="l" t="t" r="r" b="b"/>
              <a:pathLst>
                <a:path w="1507910" h="1347173">
                  <a:moveTo>
                    <a:pt x="0" y="0"/>
                  </a:moveTo>
                  <a:lnTo>
                    <a:pt x="1507910" y="0"/>
                  </a:lnTo>
                  <a:lnTo>
                    <a:pt x="1507910" y="1347173"/>
                  </a:lnTo>
                  <a:lnTo>
                    <a:pt x="0" y="1347173"/>
                  </a:lnTo>
                  <a:close/>
                </a:path>
              </a:pathLst>
            </a:custGeom>
            <a:solidFill>
              <a:srgbClr val="F8D455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507910" cy="138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796037" y="2554321"/>
            <a:ext cx="4892016" cy="4050182"/>
          </a:xfrm>
          <a:custGeom>
            <a:avLst/>
            <a:gdLst/>
            <a:ahLst/>
            <a:cxnLst/>
            <a:rect l="l" t="t" r="r" b="b"/>
            <a:pathLst>
              <a:path w="4892016" h="4050182">
                <a:moveTo>
                  <a:pt x="0" y="0"/>
                </a:moveTo>
                <a:lnTo>
                  <a:pt x="4892016" y="0"/>
                </a:lnTo>
                <a:lnTo>
                  <a:pt x="4892016" y="4050182"/>
                </a:lnTo>
                <a:lnTo>
                  <a:pt x="0" y="4050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-313210" y="5940628"/>
            <a:ext cx="2683821" cy="3280225"/>
          </a:xfrm>
          <a:custGeom>
            <a:avLst/>
            <a:gdLst/>
            <a:ahLst/>
            <a:cxnLst/>
            <a:rect l="l" t="t" r="r" b="b"/>
            <a:pathLst>
              <a:path w="2683821" h="3280225">
                <a:moveTo>
                  <a:pt x="0" y="0"/>
                </a:moveTo>
                <a:lnTo>
                  <a:pt x="2683820" y="0"/>
                </a:lnTo>
                <a:lnTo>
                  <a:pt x="2683820" y="3280226"/>
                </a:lnTo>
                <a:lnTo>
                  <a:pt x="0" y="32802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 rot="77325">
            <a:off x="9622607" y="5438557"/>
            <a:ext cx="6148800" cy="2369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62926E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This project strengthened our understanding of deep CNNs, experiment tracking, and model evaluation.</a:t>
            </a:r>
          </a:p>
          <a:p>
            <a:pPr algn="ctr">
              <a:lnSpc>
                <a:spcPts val="3779"/>
              </a:lnSpc>
            </a:pPr>
            <a:endParaRPr lang="en-US" sz="2699">
              <a:solidFill>
                <a:srgbClr val="62926E"/>
              </a:solidFill>
              <a:latin typeface="Milk Tea Font TH"/>
              <a:ea typeface="Milk Tea Font TH"/>
              <a:cs typeface="Milk Tea Font TH"/>
              <a:sym typeface="Milk Tea Font TH"/>
            </a:endParaRP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62926E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(also made us cry :_)</a:t>
            </a:r>
          </a:p>
        </p:txBody>
      </p:sp>
      <p:sp>
        <p:nvSpPr>
          <p:cNvPr id="28" name="TextBox 28"/>
          <p:cNvSpPr txBox="1"/>
          <p:nvPr/>
        </p:nvSpPr>
        <p:spPr>
          <a:xfrm rot="77325">
            <a:off x="8892348" y="3919924"/>
            <a:ext cx="7592391" cy="1537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82"/>
              </a:lnSpc>
            </a:pPr>
            <a:r>
              <a:rPr lang="en-US" sz="11536">
                <a:solidFill>
                  <a:srgbClr val="62926E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CONCLUSION</a:t>
            </a:r>
          </a:p>
        </p:txBody>
      </p:sp>
      <p:sp>
        <p:nvSpPr>
          <p:cNvPr id="29" name="Freeform 29"/>
          <p:cNvSpPr/>
          <p:nvPr/>
        </p:nvSpPr>
        <p:spPr>
          <a:xfrm>
            <a:off x="16677106" y="1404752"/>
            <a:ext cx="1752693" cy="2210966"/>
          </a:xfrm>
          <a:custGeom>
            <a:avLst/>
            <a:gdLst/>
            <a:ahLst/>
            <a:cxnLst/>
            <a:rect l="l" t="t" r="r" b="b"/>
            <a:pathLst>
              <a:path w="1752693" h="2210966">
                <a:moveTo>
                  <a:pt x="0" y="0"/>
                </a:moveTo>
                <a:lnTo>
                  <a:pt x="1752693" y="0"/>
                </a:lnTo>
                <a:lnTo>
                  <a:pt x="1752693" y="2210966"/>
                </a:lnTo>
                <a:lnTo>
                  <a:pt x="0" y="22109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5605661" y="5940628"/>
            <a:ext cx="2064781" cy="3340087"/>
          </a:xfrm>
          <a:custGeom>
            <a:avLst/>
            <a:gdLst/>
            <a:ahLst/>
            <a:cxnLst/>
            <a:rect l="l" t="t" r="r" b="b"/>
            <a:pathLst>
              <a:path w="2064781" h="3340087">
                <a:moveTo>
                  <a:pt x="0" y="0"/>
                </a:moveTo>
                <a:lnTo>
                  <a:pt x="2064781" y="0"/>
                </a:lnTo>
                <a:lnTo>
                  <a:pt x="2064781" y="3340088"/>
                </a:lnTo>
                <a:lnTo>
                  <a:pt x="0" y="3340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569583" y="2029285"/>
            <a:ext cx="1495858" cy="1373469"/>
          </a:xfrm>
          <a:custGeom>
            <a:avLst/>
            <a:gdLst/>
            <a:ahLst/>
            <a:cxnLst/>
            <a:rect l="l" t="t" r="r" b="b"/>
            <a:pathLst>
              <a:path w="1495858" h="1373469">
                <a:moveTo>
                  <a:pt x="0" y="0"/>
                </a:moveTo>
                <a:lnTo>
                  <a:pt x="1495858" y="0"/>
                </a:lnTo>
                <a:lnTo>
                  <a:pt x="1495858" y="1373469"/>
                </a:lnTo>
                <a:lnTo>
                  <a:pt x="0" y="13734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8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83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12638" y="1524427"/>
            <a:ext cx="15815123" cy="7733873"/>
            <a:chOff x="0" y="0"/>
            <a:chExt cx="4165300" cy="20369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65300" cy="2036905"/>
            </a:xfrm>
            <a:custGeom>
              <a:avLst/>
              <a:gdLst/>
              <a:ahLst/>
              <a:cxnLst/>
              <a:rect l="l" t="t" r="r" b="b"/>
              <a:pathLst>
                <a:path w="4165300" h="2036905">
                  <a:moveTo>
                    <a:pt x="0" y="0"/>
                  </a:moveTo>
                  <a:lnTo>
                    <a:pt x="4165300" y="0"/>
                  </a:lnTo>
                  <a:lnTo>
                    <a:pt x="4165300" y="2036905"/>
                  </a:lnTo>
                  <a:lnTo>
                    <a:pt x="0" y="2036905"/>
                  </a:lnTo>
                  <a:close/>
                </a:path>
              </a:pathLst>
            </a:custGeom>
            <a:solidFill>
              <a:srgbClr val="F8D45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165300" cy="2075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60238" y="1376905"/>
            <a:ext cx="15613608" cy="7571319"/>
            <a:chOff x="0" y="0"/>
            <a:chExt cx="4112226" cy="19940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2226" cy="1994092"/>
            </a:xfrm>
            <a:custGeom>
              <a:avLst/>
              <a:gdLst/>
              <a:ahLst/>
              <a:cxnLst/>
              <a:rect l="l" t="t" r="r" b="b"/>
              <a:pathLst>
                <a:path w="4112226" h="1994092">
                  <a:moveTo>
                    <a:pt x="0" y="0"/>
                  </a:moveTo>
                  <a:lnTo>
                    <a:pt x="4112226" y="0"/>
                  </a:lnTo>
                  <a:lnTo>
                    <a:pt x="4112226" y="1994092"/>
                  </a:lnTo>
                  <a:lnTo>
                    <a:pt x="0" y="1994092"/>
                  </a:lnTo>
                  <a:close/>
                </a:path>
              </a:pathLst>
            </a:custGeom>
            <a:solidFill>
              <a:srgbClr val="FFF4E0"/>
            </a:solidFill>
            <a:ln w="66675" cap="sq">
              <a:solidFill>
                <a:srgbClr val="FF7544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112226" cy="2032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160048" y="-799829"/>
            <a:ext cx="264892" cy="3657059"/>
            <a:chOff x="0" y="0"/>
            <a:chExt cx="69766" cy="9631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766" cy="963176"/>
            </a:xfrm>
            <a:custGeom>
              <a:avLst/>
              <a:gdLst/>
              <a:ahLst/>
              <a:cxnLst/>
              <a:rect l="l" t="t" r="r" b="b"/>
              <a:pathLst>
                <a:path w="69766" h="963176">
                  <a:moveTo>
                    <a:pt x="0" y="0"/>
                  </a:moveTo>
                  <a:lnTo>
                    <a:pt x="69766" y="0"/>
                  </a:lnTo>
                  <a:lnTo>
                    <a:pt x="69766" y="963176"/>
                  </a:lnTo>
                  <a:lnTo>
                    <a:pt x="0" y="963176"/>
                  </a:lnTo>
                  <a:close/>
                </a:path>
              </a:pathLst>
            </a:custGeom>
            <a:solidFill>
              <a:srgbClr val="F8D45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9766" cy="1001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061753" y="2626489"/>
            <a:ext cx="461482" cy="46148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5021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400495" y="-1030570"/>
            <a:ext cx="264892" cy="3657059"/>
            <a:chOff x="0" y="0"/>
            <a:chExt cx="69766" cy="9631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766" cy="963176"/>
            </a:xfrm>
            <a:custGeom>
              <a:avLst/>
              <a:gdLst/>
              <a:ahLst/>
              <a:cxnLst/>
              <a:rect l="l" t="t" r="r" b="b"/>
              <a:pathLst>
                <a:path w="69766" h="963176">
                  <a:moveTo>
                    <a:pt x="0" y="0"/>
                  </a:moveTo>
                  <a:lnTo>
                    <a:pt x="69766" y="0"/>
                  </a:lnTo>
                  <a:lnTo>
                    <a:pt x="69766" y="963176"/>
                  </a:lnTo>
                  <a:lnTo>
                    <a:pt x="0" y="963176"/>
                  </a:lnTo>
                  <a:close/>
                </a:path>
              </a:pathLst>
            </a:custGeom>
            <a:solidFill>
              <a:srgbClr val="F8D45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9766" cy="1001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302200" y="2395748"/>
            <a:ext cx="461482" cy="46148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5021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875852" y="2625765"/>
            <a:ext cx="12536295" cy="4110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36"/>
              </a:lnSpc>
              <a:spcBef>
                <a:spcPct val="0"/>
              </a:spcBef>
            </a:pPr>
            <a:r>
              <a:rPr lang="en-US" sz="21525">
                <a:solidFill>
                  <a:srgbClr val="5D8D69"/>
                </a:solidFill>
                <a:latin typeface="Some Time Later"/>
                <a:ea typeface="Some Time Later"/>
                <a:cs typeface="Some Time Later"/>
                <a:sym typeface="Some Time Later"/>
              </a:rPr>
              <a:t>THANK YOU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240403" y="6896044"/>
            <a:ext cx="5061797" cy="1703043"/>
            <a:chOff x="0" y="0"/>
            <a:chExt cx="1333148" cy="44853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33148" cy="448538"/>
            </a:xfrm>
            <a:custGeom>
              <a:avLst/>
              <a:gdLst/>
              <a:ahLst/>
              <a:cxnLst/>
              <a:rect l="l" t="t" r="r" b="b"/>
              <a:pathLst>
                <a:path w="1333148" h="448538">
                  <a:moveTo>
                    <a:pt x="78004" y="0"/>
                  </a:moveTo>
                  <a:lnTo>
                    <a:pt x="1255145" y="0"/>
                  </a:lnTo>
                  <a:cubicBezTo>
                    <a:pt x="1275832" y="0"/>
                    <a:pt x="1295673" y="8218"/>
                    <a:pt x="1310301" y="22847"/>
                  </a:cubicBezTo>
                  <a:cubicBezTo>
                    <a:pt x="1324930" y="37475"/>
                    <a:pt x="1333148" y="57316"/>
                    <a:pt x="1333148" y="78004"/>
                  </a:cubicBezTo>
                  <a:lnTo>
                    <a:pt x="1333148" y="370534"/>
                  </a:lnTo>
                  <a:cubicBezTo>
                    <a:pt x="1333148" y="413615"/>
                    <a:pt x="1298225" y="448538"/>
                    <a:pt x="1255145" y="448538"/>
                  </a:cubicBezTo>
                  <a:lnTo>
                    <a:pt x="78004" y="448538"/>
                  </a:lnTo>
                  <a:cubicBezTo>
                    <a:pt x="57316" y="448538"/>
                    <a:pt x="37475" y="440320"/>
                    <a:pt x="22847" y="425691"/>
                  </a:cubicBezTo>
                  <a:cubicBezTo>
                    <a:pt x="8218" y="411063"/>
                    <a:pt x="0" y="391222"/>
                    <a:pt x="0" y="370534"/>
                  </a:cubicBezTo>
                  <a:lnTo>
                    <a:pt x="0" y="78004"/>
                  </a:lnTo>
                  <a:cubicBezTo>
                    <a:pt x="0" y="57316"/>
                    <a:pt x="8218" y="37475"/>
                    <a:pt x="22847" y="22847"/>
                  </a:cubicBezTo>
                  <a:cubicBezTo>
                    <a:pt x="37475" y="8218"/>
                    <a:pt x="57316" y="0"/>
                    <a:pt x="78004" y="0"/>
                  </a:cubicBezTo>
                  <a:close/>
                </a:path>
              </a:pathLst>
            </a:custGeom>
            <a:solidFill>
              <a:srgbClr val="FF7544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333148" cy="49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39"/>
                </a:lnSpc>
              </a:pPr>
              <a:r>
                <a:rPr lang="en-US" sz="2599" b="1">
                  <a:solidFill>
                    <a:srgbClr val="FFF4E0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 By</a:t>
              </a:r>
            </a:p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FFF4E0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Kashaf Nadeem (F223095)</a:t>
              </a:r>
            </a:p>
            <a:p>
              <a:pPr marL="561336" lvl="1" indent="-280668" algn="l">
                <a:lnSpc>
                  <a:spcPts val="363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FFF4E0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Nashrah Ahmed (F223156)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496029" y="7975867"/>
            <a:ext cx="1274721" cy="42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1">
                <a:solidFill>
                  <a:srgbClr val="5D8D69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-</a:t>
            </a:r>
          </a:p>
        </p:txBody>
      </p:sp>
      <p:sp>
        <p:nvSpPr>
          <p:cNvPr id="27" name="Freeform 27"/>
          <p:cNvSpPr/>
          <p:nvPr/>
        </p:nvSpPr>
        <p:spPr>
          <a:xfrm>
            <a:off x="15550759" y="4148596"/>
            <a:ext cx="3154006" cy="3598969"/>
          </a:xfrm>
          <a:custGeom>
            <a:avLst/>
            <a:gdLst/>
            <a:ahLst/>
            <a:cxnLst/>
            <a:rect l="l" t="t" r="r" b="b"/>
            <a:pathLst>
              <a:path w="3154006" h="3598969">
                <a:moveTo>
                  <a:pt x="0" y="0"/>
                </a:moveTo>
                <a:lnTo>
                  <a:pt x="3154006" y="0"/>
                </a:lnTo>
                <a:lnTo>
                  <a:pt x="3154006" y="3598970"/>
                </a:lnTo>
                <a:lnTo>
                  <a:pt x="0" y="3598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138359">
            <a:off x="-678698" y="4432529"/>
            <a:ext cx="3494985" cy="3031105"/>
          </a:xfrm>
          <a:custGeom>
            <a:avLst/>
            <a:gdLst/>
            <a:ahLst/>
            <a:cxnLst/>
            <a:rect l="l" t="t" r="r" b="b"/>
            <a:pathLst>
              <a:path w="3494985" h="3031105">
                <a:moveTo>
                  <a:pt x="0" y="0"/>
                </a:moveTo>
                <a:lnTo>
                  <a:pt x="3494985" y="0"/>
                </a:lnTo>
                <a:lnTo>
                  <a:pt x="3494985" y="3031105"/>
                </a:lnTo>
                <a:lnTo>
                  <a:pt x="0" y="30311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265</Words>
  <Application>Microsoft Office PowerPoint</Application>
  <PresentationFormat>Custom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Milk Tea Font TH</vt:lpstr>
      <vt:lpstr>Canva Sans Bold</vt:lpstr>
      <vt:lpstr>Calibri</vt:lpstr>
      <vt:lpstr>Milk Tea Font TH Bold</vt:lpstr>
      <vt:lpstr>Canva Sans</vt:lpstr>
      <vt:lpstr>Arial</vt:lpstr>
      <vt:lpstr>Some Time Later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Food-101 Image Classification</dc:title>
  <cp:lastModifiedBy>Nashrah Khan</cp:lastModifiedBy>
  <cp:revision>2</cp:revision>
  <dcterms:created xsi:type="dcterms:W3CDTF">2006-08-16T00:00:00Z</dcterms:created>
  <dcterms:modified xsi:type="dcterms:W3CDTF">2025-11-25T11:33:39Z</dcterms:modified>
  <dc:identifier>DAG5oEdU_vI</dc:identifier>
</cp:coreProperties>
</file>